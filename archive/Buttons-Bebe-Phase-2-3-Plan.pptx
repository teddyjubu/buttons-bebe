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1463040"/>
            <a:ext cx="6400800" cy="6400800"/>
          </a:xfrm>
          <a:prstGeom prst="roundRect">
            <a:avLst>
              <a:gd name="adj" fmla="val 4286"/>
            </a:avLst>
          </a:prstGeom>
          <a:solidFill>
            <a:srgbClr val="22344F"/>
          </a:solidFill>
          <a:ln w="12700">
            <a:solidFill>
              <a:srgbClr val="2234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BUTTONS BEBE  ·  AI SUPPORT AGENT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03504" y="15544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 &amp; 3 Plan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640080" y="269748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feature we build next — and how long each one takes.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114800"/>
            <a:ext cx="3429000" cy="1234440"/>
          </a:xfrm>
          <a:prstGeom prst="roundRect">
            <a:avLst>
              <a:gd name="adj" fmla="val 8889"/>
            </a:avLst>
          </a:prstGeom>
          <a:solidFill>
            <a:srgbClr val="1C3A2C"/>
          </a:solidFill>
          <a:ln w="15875">
            <a:solidFill>
              <a:srgbClr val="2E9E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6112" y="4370832"/>
            <a:ext cx="384048" cy="384048"/>
          </a:xfrm>
          <a:prstGeom prst="ellipse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4361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17320" y="4334256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417320" y="4626864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5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— live today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251960" y="4114800"/>
            <a:ext cx="3429000" cy="1234440"/>
          </a:xfrm>
          <a:prstGeom prst="roundRect">
            <a:avLst>
              <a:gd name="adj" fmla="val 8889"/>
            </a:avLst>
          </a:prstGeom>
          <a:solidFill>
            <a:srgbClr val="113B3A"/>
          </a:solidFill>
          <a:ln w="15875">
            <a:solidFill>
              <a:srgbClr val="0E8F8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07992" y="4370832"/>
            <a:ext cx="384048" cy="384048"/>
          </a:xfrm>
          <a:prstGeom prst="ellipse">
            <a:avLst/>
          </a:prstGeom>
          <a:solidFill>
            <a:srgbClr val="0E8F87"/>
          </a:solidFill>
          <a:ln w="12700">
            <a:solidFill>
              <a:srgbClr val="0E8F8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07992" y="4361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29200" y="4334256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E8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0" y="4626864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5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Trustworthy &amp; Visible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863840" y="4114800"/>
            <a:ext cx="3429000" cy="1234440"/>
          </a:xfrm>
          <a:prstGeom prst="roundRect">
            <a:avLst>
              <a:gd name="adj" fmla="val 8889"/>
            </a:avLst>
          </a:prstGeom>
          <a:solidFill>
            <a:srgbClr val="242A5A"/>
          </a:solidFill>
          <a:ln w="15875">
            <a:solidFill>
              <a:srgbClr val="4B54C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19872" y="4370832"/>
            <a:ext cx="384048" cy="384048"/>
          </a:xfrm>
          <a:prstGeom prst="ellipse">
            <a:avLst/>
          </a:prstGeom>
          <a:solidFill>
            <a:srgbClr val="4B54C7"/>
          </a:solidFill>
          <a:ln w="12700">
            <a:solidFill>
              <a:srgbClr val="4B54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19872" y="4361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641080" y="4334256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B5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641080" y="4626864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5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&amp; Multi-channel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0080" y="58064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the meeting with Chaim   ·   July 12,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·  LIVE TODAY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are today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02920" y="1481328"/>
            <a:ext cx="4343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already works as a copilot. For every incoming ticket it reads the message, pulls the order, return and product details, searches the knowledge base, and writes a first-draft reply — placed in Gorgias as a private note for your team to review and send.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02920" y="3429000"/>
            <a:ext cx="4343400" cy="1371600"/>
          </a:xfrm>
          <a:prstGeom prst="roundRect">
            <a:avLst>
              <a:gd name="adj" fmla="val 6667"/>
            </a:avLst>
          </a:prstGeom>
          <a:solidFill>
            <a:srgbClr val="E4F3EA"/>
          </a:solidFill>
          <a:ln w="15875">
            <a:solidFill>
              <a:srgbClr val="2E9E5B"/>
            </a:solidFill>
            <a:prstDash val="solid"/>
          </a:ln>
          <a:effectLst>
            <a:outerShdw sx="100000" sy="100000" kx="0" ky="0" algn="bl" rotWithShape="0" blurRad="114300" dist="38100" dir="5400000">
              <a:srgbClr val="9FB0C6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13232" y="358444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safety promise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13232" y="3913632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2C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never sends on its own. Every customer reply is written by the AI but sent by a human. Sensitive tickets are flagged, never auto-handled.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02920" y="502920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~2,000</a:t>
            </a:r>
            <a:pPr indent="0" marL="0">
              <a:buNone/>
            </a:pPr>
            <a:r>
              <a:rPr lang="en-US" sz="15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tickets / month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502920" y="562356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volume this agent is built to take 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120640" y="1481328"/>
            <a:ext cx="3246120" cy="1481328"/>
          </a:xfrm>
          <a:prstGeom prst="roundRect">
            <a:avLst>
              <a:gd name="adj" fmla="val 6173"/>
            </a:avLst>
          </a:prstGeom>
          <a:solidFill>
            <a:srgbClr val="F4F7FB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9FB0C6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40096" y="1700784"/>
            <a:ext cx="457200" cy="457200"/>
          </a:xfrm>
          <a:prstGeom prst="ellipse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40096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07024" y="170078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every ticket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358384" y="2267712"/>
            <a:ext cx="2788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8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the customer's message in context</a:t>
            </a:r>
            <a:endParaRPr lang="en-US" sz="1180" dirty="0"/>
          </a:p>
        </p:txBody>
      </p:sp>
      <p:sp>
        <p:nvSpPr>
          <p:cNvPr id="15" name="Shape 13"/>
          <p:cNvSpPr/>
          <p:nvPr/>
        </p:nvSpPr>
        <p:spPr>
          <a:xfrm>
            <a:off x="8567928" y="1481328"/>
            <a:ext cx="3246120" cy="1481328"/>
          </a:xfrm>
          <a:prstGeom prst="roundRect">
            <a:avLst>
              <a:gd name="adj" fmla="val 6173"/>
            </a:avLst>
          </a:prstGeom>
          <a:solidFill>
            <a:srgbClr val="F4F7FB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9FB0C6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787384" y="1700784"/>
            <a:ext cx="457200" cy="457200"/>
          </a:xfrm>
          <a:prstGeom prst="ellipse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87384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354312" y="170078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order context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805672" y="2267712"/>
            <a:ext cx="2788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8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Order, return &amp; product details, automatically</a:t>
            </a:r>
            <a:endParaRPr lang="en-US" sz="1180" dirty="0"/>
          </a:p>
        </p:txBody>
      </p:sp>
      <p:sp>
        <p:nvSpPr>
          <p:cNvPr id="20" name="Shape 18"/>
          <p:cNvSpPr/>
          <p:nvPr/>
        </p:nvSpPr>
        <p:spPr>
          <a:xfrm>
            <a:off x="5120640" y="3145536"/>
            <a:ext cx="3246120" cy="1481328"/>
          </a:xfrm>
          <a:prstGeom prst="roundRect">
            <a:avLst>
              <a:gd name="adj" fmla="val 6173"/>
            </a:avLst>
          </a:prstGeom>
          <a:solidFill>
            <a:srgbClr val="F4F7FB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9FB0C6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340096" y="3364992"/>
            <a:ext cx="457200" cy="457200"/>
          </a:xfrm>
          <a:prstGeom prst="ellipse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40096" y="3355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907024" y="336499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the knowledge base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358384" y="3931920"/>
            <a:ext cx="2788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8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Policies, FAQs and 4,246 live products</a:t>
            </a:r>
            <a:endParaRPr lang="en-US" sz="1180" dirty="0"/>
          </a:p>
        </p:txBody>
      </p:sp>
      <p:sp>
        <p:nvSpPr>
          <p:cNvPr id="25" name="Shape 23"/>
          <p:cNvSpPr/>
          <p:nvPr/>
        </p:nvSpPr>
        <p:spPr>
          <a:xfrm>
            <a:off x="8567928" y="3145536"/>
            <a:ext cx="3246120" cy="1481328"/>
          </a:xfrm>
          <a:prstGeom prst="roundRect">
            <a:avLst>
              <a:gd name="adj" fmla="val 6173"/>
            </a:avLst>
          </a:prstGeom>
          <a:solidFill>
            <a:srgbClr val="F4F7FB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9FB0C6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787384" y="3364992"/>
            <a:ext cx="457200" cy="457200"/>
          </a:xfrm>
          <a:prstGeom prst="ellipse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787384" y="3355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354312" y="336499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the reply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8805672" y="3931920"/>
            <a:ext cx="2788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8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as a private note for staff to approve</a:t>
            </a:r>
            <a:endParaRPr lang="en-US" sz="1180" dirty="0"/>
          </a:p>
        </p:txBody>
      </p:sp>
      <p:sp>
        <p:nvSpPr>
          <p:cNvPr id="30" name="Shape 28"/>
          <p:cNvSpPr/>
          <p:nvPr/>
        </p:nvSpPr>
        <p:spPr>
          <a:xfrm>
            <a:off x="5120640" y="4809744"/>
            <a:ext cx="3246120" cy="1481328"/>
          </a:xfrm>
          <a:prstGeom prst="roundRect">
            <a:avLst>
              <a:gd name="adj" fmla="val 6173"/>
            </a:avLst>
          </a:prstGeom>
          <a:solidFill>
            <a:srgbClr val="F4F7FB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9FB0C6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340096" y="5029200"/>
            <a:ext cx="457200" cy="457200"/>
          </a:xfrm>
          <a:prstGeom prst="ellipse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40096" y="50200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907024" y="50292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escalation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5358384" y="5596128"/>
            <a:ext cx="2788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8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tickets ping the owner instantly</a:t>
            </a:r>
            <a:endParaRPr lang="en-US" sz="1180" dirty="0"/>
          </a:p>
        </p:txBody>
      </p:sp>
      <p:sp>
        <p:nvSpPr>
          <p:cNvPr id="35" name="Shape 33"/>
          <p:cNvSpPr/>
          <p:nvPr/>
        </p:nvSpPr>
        <p:spPr>
          <a:xfrm>
            <a:off x="8567928" y="4809744"/>
            <a:ext cx="3246120" cy="1481328"/>
          </a:xfrm>
          <a:prstGeom prst="roundRect">
            <a:avLst>
              <a:gd name="adj" fmla="val 6173"/>
            </a:avLst>
          </a:prstGeom>
          <a:solidFill>
            <a:srgbClr val="F4F7FB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9FB0C6">
                <a:alpha val="3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787384" y="5029200"/>
            <a:ext cx="457200" cy="457200"/>
          </a:xfrm>
          <a:prstGeom prst="ellipse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787384" y="50200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9354312" y="50292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Board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8805672" y="5596128"/>
            <a:ext cx="2788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8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posts override the AI's answers on the fly</a:t>
            </a:r>
            <a:endParaRPr lang="en-US" sz="1180" dirty="0"/>
          </a:p>
        </p:txBody>
      </p:sp>
      <p:sp>
        <p:nvSpPr>
          <p:cNvPr id="40" name="Text 38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Buttons Bebe  ·  AI Support Agent — Phase 2 &amp; 3 Plan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8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 AT A GLANCE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phases — the AI earns more trust at each step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3611880" cy="3977640"/>
          </a:xfrm>
          <a:prstGeom prst="roundRect">
            <a:avLst>
              <a:gd name="adj" fmla="val 3038"/>
            </a:avLst>
          </a:prstGeom>
          <a:solidFill>
            <a:srgbClr val="E4F3EA"/>
          </a:solidFill>
          <a:ln w="15875">
            <a:solidFill>
              <a:srgbClr val="2E9E5B"/>
            </a:solidFill>
            <a:prstDash val="solid"/>
          </a:ln>
          <a:effectLst>
            <a:outerShdw sx="100000" sy="100000" kx="0" ky="0" algn="bl" rotWithShape="0" blurRad="114300" dist="38100" dir="5400000">
              <a:srgbClr val="9FB0C6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20240"/>
            <a:ext cx="658368" cy="658368"/>
          </a:xfrm>
          <a:prstGeom prst="ellipse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91109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645920" y="20116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TODAY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770632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 — Copilot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3538728"/>
            <a:ext cx="2971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drafts every reply. A human reviews and sends. Read-only access to your systems.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4818888"/>
            <a:ext cx="2971800" cy="57607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4818888"/>
            <a:ext cx="26974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3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team: </a:t>
            </a:r>
            <a:pPr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sends every reply</a:t>
            </a:r>
            <a:endParaRPr lang="en-US" sz="1130" dirty="0"/>
          </a:p>
        </p:txBody>
      </p:sp>
      <p:sp>
        <p:nvSpPr>
          <p:cNvPr id="12" name="Shape 10"/>
          <p:cNvSpPr/>
          <p:nvPr/>
        </p:nvSpPr>
        <p:spPr>
          <a:xfrm>
            <a:off x="4288536" y="1600200"/>
            <a:ext cx="3611880" cy="3977640"/>
          </a:xfrm>
          <a:prstGeom prst="roundRect">
            <a:avLst>
              <a:gd name="adj" fmla="val 3038"/>
            </a:avLst>
          </a:prstGeom>
          <a:solidFill>
            <a:srgbClr val="E1F1EF"/>
          </a:solidFill>
          <a:ln w="15875">
            <a:solidFill>
              <a:srgbClr val="0E8F87"/>
            </a:solidFill>
            <a:prstDash val="solid"/>
          </a:ln>
          <a:effectLst>
            <a:outerShdw sx="100000" sy="100000" kx="0" ky="0" algn="bl" rotWithShape="0" blurRad="114300" dist="38100" dir="5400000">
              <a:srgbClr val="9FB0C6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08576" y="1920240"/>
            <a:ext cx="658368" cy="658368"/>
          </a:xfrm>
          <a:prstGeom prst="ellipse">
            <a:avLst/>
          </a:prstGeom>
          <a:solidFill>
            <a:srgbClr val="0E8F87"/>
          </a:solidFill>
          <a:ln w="12700">
            <a:solidFill>
              <a:srgbClr val="0E8F8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08576" y="191109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431536" y="20116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8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 ·  ~4–6 WEEKS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08576" y="2770632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 — Trustworthy &amp; Visible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608576" y="3538728"/>
            <a:ext cx="2971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it rock-solid and higher quality, prove it learns, and give you a dashboard to see it working.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08576" y="4818888"/>
            <a:ext cx="2971800" cy="57607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0E8F8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45736" y="4818888"/>
            <a:ext cx="26974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30" b="1" dirty="0">
                <a:solidFill>
                  <a:srgbClr val="0E8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team: </a:t>
            </a:r>
            <a:pPr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still approves — now with proof &amp; metrics</a:t>
            </a:r>
            <a:endParaRPr lang="en-US" sz="1130" dirty="0"/>
          </a:p>
        </p:txBody>
      </p:sp>
      <p:sp>
        <p:nvSpPr>
          <p:cNvPr id="20" name="Shape 18"/>
          <p:cNvSpPr/>
          <p:nvPr/>
        </p:nvSpPr>
        <p:spPr>
          <a:xfrm>
            <a:off x="8074152" y="1600200"/>
            <a:ext cx="3611880" cy="3977640"/>
          </a:xfrm>
          <a:prstGeom prst="roundRect">
            <a:avLst>
              <a:gd name="adj" fmla="val 3038"/>
            </a:avLst>
          </a:prstGeom>
          <a:solidFill>
            <a:srgbClr val="E9EAFB"/>
          </a:solidFill>
          <a:ln w="15875">
            <a:solidFill>
              <a:srgbClr val="4B54C7"/>
            </a:solidFill>
            <a:prstDash val="solid"/>
          </a:ln>
          <a:effectLst>
            <a:outerShdw sx="100000" sy="100000" kx="0" ky="0" algn="bl" rotWithShape="0" blurRad="114300" dist="38100" dir="5400000">
              <a:srgbClr val="9FB0C6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394192" y="1920240"/>
            <a:ext cx="658368" cy="658368"/>
          </a:xfrm>
          <a:prstGeom prst="ellipse">
            <a:avLst/>
          </a:prstGeom>
          <a:solidFill>
            <a:srgbClr val="4B54C7"/>
          </a:solidFill>
          <a:ln w="12700">
            <a:solidFill>
              <a:srgbClr val="4B54C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94192" y="191109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9217152" y="20116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B5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  ·  ~3–4 MONTHS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394192" y="2770632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3 — Autonomous &amp; Multi-channel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8394192" y="3538728"/>
            <a:ext cx="2971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handles routine tickets end-to-end, across more channels, and can take real actions.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394192" y="4818888"/>
            <a:ext cx="2971800" cy="57607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4B54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31352" y="4818888"/>
            <a:ext cx="26974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30" b="1" dirty="0">
                <a:solidFill>
                  <a:srgbClr val="4B5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team: </a:t>
            </a:r>
            <a:pPr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supervises the exceptions</a:t>
            </a:r>
            <a:endParaRPr lang="en-US" sz="1130" dirty="0"/>
          </a:p>
        </p:txBody>
      </p:sp>
      <p:sp>
        <p:nvSpPr>
          <p:cNvPr id="28" name="Text 26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Buttons Bebe  ·  AI Support Agent — Phase 2 &amp; 3 Plan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6400800" cy="6949440"/>
          </a:xfrm>
          <a:prstGeom prst="roundRect">
            <a:avLst>
              <a:gd name="adj" fmla="val 4286"/>
            </a:avLst>
          </a:prstGeom>
          <a:solidFill>
            <a:srgbClr val="22344F"/>
          </a:solidFill>
          <a:ln w="12700">
            <a:solidFill>
              <a:srgbClr val="2234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371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8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03504" y="18288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it Trustworthy &amp; Visible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40080" y="288036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C7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Rock-solid, measurable, and higher quality — while the AI still drafts and a human still approves every reply.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3977640"/>
            <a:ext cx="3200400" cy="329184"/>
          </a:xfrm>
          <a:prstGeom prst="roundRect">
            <a:avLst>
              <a:gd name="adj" fmla="val 50000"/>
            </a:avLst>
          </a:prstGeom>
          <a:solidFill>
            <a:srgbClr val="8FE3D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97764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ESTIMATE:  ~4–6 WEEKS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40080" y="4526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focused builder, delivered in small pieces so value ships every week.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8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·  WHY IT MATTERS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get out of Phase 2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572768"/>
            <a:ext cx="2670048" cy="3977640"/>
          </a:xfrm>
          <a:prstGeom prst="roundRect">
            <a:avLst>
              <a:gd name="adj" fmla="val 3425"/>
            </a:avLst>
          </a:prstGeom>
          <a:solidFill>
            <a:srgbClr val="F4F7FB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9FB0C6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54480" y="1938528"/>
            <a:ext cx="566928" cy="566928"/>
          </a:xfrm>
          <a:prstGeom prst="ellipse">
            <a:avLst/>
          </a:prstGeom>
          <a:solidFill>
            <a:srgbClr val="0E8F87"/>
          </a:solidFill>
          <a:ln w="12700">
            <a:solidFill>
              <a:srgbClr val="0E8F8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54480" y="19293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04088" y="2670048"/>
            <a:ext cx="22677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Fewer risky replies slip through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22376" y="3584448"/>
            <a:ext cx="223113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3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second, rule-based safety net catches refunds, disputes and upset customers — not just the AI's judgment.</a:t>
            </a:r>
            <a:endParaRPr lang="en-US" sz="1230" dirty="0"/>
          </a:p>
        </p:txBody>
      </p:sp>
      <p:sp>
        <p:nvSpPr>
          <p:cNvPr id="9" name="Shape 7"/>
          <p:cNvSpPr/>
          <p:nvPr/>
        </p:nvSpPr>
        <p:spPr>
          <a:xfrm>
            <a:off x="3346704" y="1572768"/>
            <a:ext cx="2670048" cy="3977640"/>
          </a:xfrm>
          <a:prstGeom prst="roundRect">
            <a:avLst>
              <a:gd name="adj" fmla="val 3425"/>
            </a:avLst>
          </a:prstGeom>
          <a:solidFill>
            <a:srgbClr val="E1F1EF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9FB0C6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98264" y="1938528"/>
            <a:ext cx="566928" cy="566928"/>
          </a:xfrm>
          <a:prstGeom prst="ellipse">
            <a:avLst/>
          </a:prstGeom>
          <a:solidFill>
            <a:srgbClr val="0E8F87"/>
          </a:solidFill>
          <a:ln w="12700">
            <a:solidFill>
              <a:srgbClr val="0E8F8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98264" y="19293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47872" y="2670048"/>
            <a:ext cx="22677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can SEE it working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3566160" y="3584448"/>
            <a:ext cx="223113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3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dashboard: how many drafts were used as-is, tickets handled, hours saved, and the top topics.</a:t>
            </a:r>
            <a:endParaRPr lang="en-US" sz="1230" dirty="0"/>
          </a:p>
        </p:txBody>
      </p:sp>
      <p:sp>
        <p:nvSpPr>
          <p:cNvPr id="14" name="Shape 12"/>
          <p:cNvSpPr/>
          <p:nvPr/>
        </p:nvSpPr>
        <p:spPr>
          <a:xfrm>
            <a:off x="6190488" y="1572768"/>
            <a:ext cx="2670048" cy="3977640"/>
          </a:xfrm>
          <a:prstGeom prst="roundRect">
            <a:avLst>
              <a:gd name="adj" fmla="val 3425"/>
            </a:avLst>
          </a:prstGeom>
          <a:solidFill>
            <a:srgbClr val="F4F7FB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9FB0C6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242048" y="1938528"/>
            <a:ext cx="566928" cy="566928"/>
          </a:xfrm>
          <a:prstGeom prst="ellipse">
            <a:avLst/>
          </a:prstGeom>
          <a:solidFill>
            <a:srgbClr val="0E8F87"/>
          </a:solidFill>
          <a:ln w="12700">
            <a:solidFill>
              <a:srgbClr val="0E8F8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42048" y="19293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391656" y="2670048"/>
            <a:ext cx="22677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Drafts get smarter weekly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6409944" y="3584448"/>
            <a:ext cx="223113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3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learns from your team's real edits — and we prove a lesson actually changes the next draft.</a:t>
            </a:r>
            <a:endParaRPr lang="en-US" sz="1230" dirty="0"/>
          </a:p>
        </p:txBody>
      </p:sp>
      <p:sp>
        <p:nvSpPr>
          <p:cNvPr id="19" name="Shape 17"/>
          <p:cNvSpPr/>
          <p:nvPr/>
        </p:nvSpPr>
        <p:spPr>
          <a:xfrm>
            <a:off x="9034272" y="1572768"/>
            <a:ext cx="2670048" cy="3977640"/>
          </a:xfrm>
          <a:prstGeom prst="roundRect">
            <a:avLst>
              <a:gd name="adj" fmla="val 3425"/>
            </a:avLst>
          </a:prstGeom>
          <a:solidFill>
            <a:srgbClr val="E1F1EF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9FB0C6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0085832" y="1938528"/>
            <a:ext cx="566928" cy="566928"/>
          </a:xfrm>
          <a:prstGeom prst="ellipse">
            <a:avLst/>
          </a:prstGeom>
          <a:solidFill>
            <a:srgbClr val="0E8F87"/>
          </a:solidFill>
          <a:ln w="12700">
            <a:solidFill>
              <a:srgbClr val="0E8F8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85832" y="19293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235440" y="2670048"/>
            <a:ext cx="22677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Faster, more accurate answers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9253728" y="3584448"/>
            <a:ext cx="223113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3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order &amp; tracking details in every draft, and a guardrail so it never invents a price or policy.</a:t>
            </a:r>
            <a:endParaRPr lang="en-US" sz="1230" dirty="0"/>
          </a:p>
        </p:txBody>
      </p:sp>
      <p:sp>
        <p:nvSpPr>
          <p:cNvPr id="24" name="Text 22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Buttons Bebe  ·  AI Support Agent — Phase 2 &amp; 3 Plan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8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·  FEATURE GROUP 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what we have rock-solid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behind-the-scenes cleanup that turns a working prototype into a system you can trust in production.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11183112" cy="580644"/>
          </a:xfrm>
          <a:prstGeom prst="roundRect">
            <a:avLst>
              <a:gd name="adj" fmla="val 15748"/>
            </a:avLst>
          </a:prstGeom>
          <a:solidFill>
            <a:srgbClr val="FBFCFE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9FB0C6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917954"/>
            <a:ext cx="402336" cy="402336"/>
          </a:xfrm>
          <a:prstGeom prst="ellipse">
            <a:avLst/>
          </a:prstGeom>
          <a:solidFill>
            <a:srgbClr val="0E8F87"/>
          </a:solidFill>
          <a:ln w="12700">
            <a:solidFill>
              <a:srgbClr val="0E8F8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90881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52728" y="1883664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safety net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52728" y="2135124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Code-level gate flags refunds, disputes, damaged/angry cases — backing up the AI's own judgment.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994392" y="195453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FBF0DC"/>
          </a:solidFill>
          <a:ln/>
        </p:spPr>
      </p:sp>
      <p:sp>
        <p:nvSpPr>
          <p:cNvPr id="11" name="Text 9"/>
          <p:cNvSpPr/>
          <p:nvPr/>
        </p:nvSpPr>
        <p:spPr>
          <a:xfrm>
            <a:off x="9994392" y="195453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88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days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2478024"/>
            <a:ext cx="11183112" cy="580644"/>
          </a:xfrm>
          <a:prstGeom prst="roundRect">
            <a:avLst>
              <a:gd name="adj" fmla="val 15748"/>
            </a:avLst>
          </a:prstGeom>
          <a:solidFill>
            <a:srgbClr val="F4F7FB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9FB0C6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85800" y="2567178"/>
            <a:ext cx="402336" cy="402336"/>
          </a:xfrm>
          <a:prstGeom prst="ellipse">
            <a:avLst/>
          </a:prstGeom>
          <a:solidFill>
            <a:srgbClr val="0E8F87"/>
          </a:solidFill>
          <a:ln w="12700">
            <a:solidFill>
              <a:srgbClr val="0E8F8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55803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52728" y="253288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Cleaner drafts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52728" y="278434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the AI's leftover self-talk and duplicated answers so drafts arrive tidy.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994392" y="2603754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FBF0DC"/>
          </a:solidFill>
          <a:ln/>
        </p:spPr>
      </p:sp>
      <p:sp>
        <p:nvSpPr>
          <p:cNvPr id="18" name="Text 16"/>
          <p:cNvSpPr/>
          <p:nvPr/>
        </p:nvSpPr>
        <p:spPr>
          <a:xfrm>
            <a:off x="9994392" y="260375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88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day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2920" y="3127248"/>
            <a:ext cx="11183112" cy="580644"/>
          </a:xfrm>
          <a:prstGeom prst="roundRect">
            <a:avLst>
              <a:gd name="adj" fmla="val 15748"/>
            </a:avLst>
          </a:prstGeom>
          <a:solidFill>
            <a:srgbClr val="FBFCFE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9FB0C6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5800" y="3216402"/>
            <a:ext cx="402336" cy="402336"/>
          </a:xfrm>
          <a:prstGeom prst="ellipse">
            <a:avLst/>
          </a:prstGeom>
          <a:solidFill>
            <a:srgbClr val="0E8F87"/>
          </a:solidFill>
          <a:ln w="12700">
            <a:solidFill>
              <a:srgbClr val="0E8F8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320725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52728" y="318211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empty / junk messages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52728" y="3433572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 blank or survey messages and not invent a reply for them.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994392" y="3252978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FBF0DC"/>
          </a:solidFill>
          <a:ln/>
        </p:spPr>
      </p:sp>
      <p:sp>
        <p:nvSpPr>
          <p:cNvPr id="25" name="Text 23"/>
          <p:cNvSpPr/>
          <p:nvPr/>
        </p:nvSpPr>
        <p:spPr>
          <a:xfrm>
            <a:off x="9994392" y="325297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88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~½ day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02920" y="3776472"/>
            <a:ext cx="11183112" cy="580644"/>
          </a:xfrm>
          <a:prstGeom prst="roundRect">
            <a:avLst>
              <a:gd name="adj" fmla="val 15748"/>
            </a:avLst>
          </a:prstGeom>
          <a:solidFill>
            <a:srgbClr val="F4F7FB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9FB0C6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85800" y="3865626"/>
            <a:ext cx="402336" cy="402336"/>
          </a:xfrm>
          <a:prstGeom prst="ellipse">
            <a:avLst/>
          </a:prstGeom>
          <a:solidFill>
            <a:srgbClr val="0E8F87"/>
          </a:solidFill>
          <a:ln w="12700">
            <a:solidFill>
              <a:srgbClr val="0E8F8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385648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252728" y="3831336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invent facts or prices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252728" y="4082796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guardrail so the AI only quotes prices and policies that are actually in the knowledge base.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994392" y="3902202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FBF0DC"/>
          </a:solidFill>
          <a:ln/>
        </p:spPr>
      </p:sp>
      <p:sp>
        <p:nvSpPr>
          <p:cNvPr id="32" name="Text 30"/>
          <p:cNvSpPr/>
          <p:nvPr/>
        </p:nvSpPr>
        <p:spPr>
          <a:xfrm>
            <a:off x="9994392" y="390220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88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day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02920" y="4425696"/>
            <a:ext cx="11183112" cy="580644"/>
          </a:xfrm>
          <a:prstGeom prst="roundRect">
            <a:avLst>
              <a:gd name="adj" fmla="val 15748"/>
            </a:avLst>
          </a:prstGeom>
          <a:solidFill>
            <a:srgbClr val="FBFCFE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9FB0C6">
                <a:alpha val="3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85800" y="4514850"/>
            <a:ext cx="402336" cy="402336"/>
          </a:xfrm>
          <a:prstGeom prst="ellipse">
            <a:avLst/>
          </a:prstGeom>
          <a:solidFill>
            <a:srgbClr val="0E8F87"/>
          </a:solidFill>
          <a:ln w="12700">
            <a:solidFill>
              <a:srgbClr val="0E8F8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" y="450570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252728" y="448056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the Shopify connection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252728" y="473202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live order &amp; tracking data directly, using the correct secure login method.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9994392" y="4551426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FBF0DC"/>
          </a:solidFill>
          <a:ln/>
        </p:spPr>
      </p:sp>
      <p:sp>
        <p:nvSpPr>
          <p:cNvPr id="39" name="Text 37"/>
          <p:cNvSpPr/>
          <p:nvPr/>
        </p:nvSpPr>
        <p:spPr>
          <a:xfrm>
            <a:off x="9994392" y="4551426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88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days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502920" y="5074920"/>
            <a:ext cx="11183112" cy="580644"/>
          </a:xfrm>
          <a:prstGeom prst="roundRect">
            <a:avLst>
              <a:gd name="adj" fmla="val 15748"/>
            </a:avLst>
          </a:prstGeom>
          <a:solidFill>
            <a:srgbClr val="F4F7FB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9FB0C6">
                <a:alpha val="3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85800" y="5164074"/>
            <a:ext cx="402336" cy="402336"/>
          </a:xfrm>
          <a:prstGeom prst="ellipse">
            <a:avLst/>
          </a:prstGeom>
          <a:solidFill>
            <a:srgbClr val="0E8F87"/>
          </a:solidFill>
          <a:ln w="12700">
            <a:solidFill>
              <a:srgbClr val="0E8F8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5800" y="515493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1252728" y="5129784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returns tool + lock the toolset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1252728" y="5381244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 returns lookup and restrict what the AI is allowed to touch.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9994392" y="520065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FBF0DC"/>
          </a:solidFill>
          <a:ln/>
        </p:spPr>
      </p:sp>
      <p:sp>
        <p:nvSpPr>
          <p:cNvPr id="46" name="Text 44"/>
          <p:cNvSpPr/>
          <p:nvPr/>
        </p:nvSpPr>
        <p:spPr>
          <a:xfrm>
            <a:off x="9994392" y="520065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88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day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502920" y="5724144"/>
            <a:ext cx="11183112" cy="580644"/>
          </a:xfrm>
          <a:prstGeom prst="roundRect">
            <a:avLst>
              <a:gd name="adj" fmla="val 15748"/>
            </a:avLst>
          </a:prstGeom>
          <a:solidFill>
            <a:srgbClr val="FBFCFE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9FB0C6">
                <a:alpha val="3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85800" y="5813298"/>
            <a:ext cx="402336" cy="402336"/>
          </a:xfrm>
          <a:prstGeom prst="ellipse">
            <a:avLst/>
          </a:prstGeom>
          <a:solidFill>
            <a:srgbClr val="0E8F87"/>
          </a:solidFill>
          <a:ln w="12700">
            <a:solidFill>
              <a:srgbClr val="0E8F8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5800" y="580415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1252728" y="577900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config cleanup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1252728" y="60304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settings file, tightened secrets, and a hardened owner login page.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9994392" y="5849874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FBF0DC"/>
          </a:solidFill>
          <a:ln/>
        </p:spPr>
      </p:sp>
      <p:sp>
        <p:nvSpPr>
          <p:cNvPr id="53" name="Text 51"/>
          <p:cNvSpPr/>
          <p:nvPr/>
        </p:nvSpPr>
        <p:spPr>
          <a:xfrm>
            <a:off x="9994392" y="584987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88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day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Buttons Bebe  ·  AI Support Agent — Phase 2 &amp; 3 Plan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8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·  FEATURE GROUPS B &amp; C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Proven learning  +  a window into performance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5440680" cy="4389120"/>
          </a:xfrm>
          <a:prstGeom prst="roundRect">
            <a:avLst>
              <a:gd name="adj" fmla="val 2083"/>
            </a:avLst>
          </a:prstGeom>
          <a:solidFill>
            <a:srgbClr val="F4F7FB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9FB0C6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95528" y="1911096"/>
            <a:ext cx="548640" cy="548640"/>
          </a:xfrm>
          <a:prstGeom prst="ellipse">
            <a:avLst/>
          </a:prstGeom>
          <a:solidFill>
            <a:srgbClr val="0E8F87"/>
          </a:solidFill>
          <a:ln w="12700">
            <a:solidFill>
              <a:srgbClr val="0E8F8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19019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1911096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loop, proven 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13816" y="2651760"/>
            <a:ext cx="4837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8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 this is already built. Phase 2 turns it fully on and proves it actually helps:</a:t>
            </a:r>
            <a:endParaRPr lang="en-US" sz="1280" dirty="0"/>
          </a:p>
        </p:txBody>
      </p:sp>
      <p:sp>
        <p:nvSpPr>
          <p:cNvPr id="9" name="Shape 7"/>
          <p:cNvSpPr/>
          <p:nvPr/>
        </p:nvSpPr>
        <p:spPr>
          <a:xfrm>
            <a:off x="868680" y="3383280"/>
            <a:ext cx="237744" cy="237744"/>
          </a:xfrm>
          <a:prstGeom prst="ellipse">
            <a:avLst/>
          </a:prstGeom>
          <a:solidFill>
            <a:srgbClr val="0E8F87"/>
          </a:solidFill>
          <a:ln w="12700">
            <a:solidFill>
              <a:srgbClr val="0E8F8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3741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252728" y="3310128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your team's real reply on each ticket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68680" y="3840480"/>
            <a:ext cx="237744" cy="237744"/>
          </a:xfrm>
          <a:prstGeom prst="ellipse">
            <a:avLst/>
          </a:prstGeom>
          <a:solidFill>
            <a:srgbClr val="0E8F87"/>
          </a:solidFill>
          <a:ln w="12700">
            <a:solidFill>
              <a:srgbClr val="0E8F8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8313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252728" y="3767328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approve the good ones (with privacy scrub)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68680" y="4297680"/>
            <a:ext cx="237744" cy="237744"/>
          </a:xfrm>
          <a:prstGeom prst="ellipse">
            <a:avLst/>
          </a:prstGeom>
          <a:solidFill>
            <a:srgbClr val="0E8F87"/>
          </a:solidFill>
          <a:ln w="12700">
            <a:solidFill>
              <a:srgbClr val="0E8F8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42885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252728" y="4224528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them so the AI can reuse them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68680" y="4754880"/>
            <a:ext cx="237744" cy="237744"/>
          </a:xfrm>
          <a:prstGeom prst="ellipse">
            <a:avLst/>
          </a:prstGeom>
          <a:solidFill>
            <a:srgbClr val="0E8F87"/>
          </a:solidFill>
          <a:ln w="12700">
            <a:solidFill>
              <a:srgbClr val="0E8F8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47457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252728" y="4681728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a promoted lesson changes the next draft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13816" y="5440680"/>
            <a:ext cx="2286000" cy="329184"/>
          </a:xfrm>
          <a:prstGeom prst="roundRect">
            <a:avLst>
              <a:gd name="adj" fmla="val 50000"/>
            </a:avLst>
          </a:prstGeom>
          <a:solidFill>
            <a:srgbClr val="FBF0DC"/>
          </a:solidFill>
          <a:ln/>
        </p:spPr>
      </p:sp>
      <p:sp>
        <p:nvSpPr>
          <p:cNvPr id="22" name="Text 20"/>
          <p:cNvSpPr/>
          <p:nvPr/>
        </p:nvSpPr>
        <p:spPr>
          <a:xfrm>
            <a:off x="813816" y="544068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88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EST:  ~1 WEEK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45352" y="1600200"/>
            <a:ext cx="5440680" cy="4389120"/>
          </a:xfrm>
          <a:prstGeom prst="roundRect">
            <a:avLst>
              <a:gd name="adj" fmla="val 2083"/>
            </a:avLst>
          </a:prstGeom>
          <a:solidFill>
            <a:srgbClr val="E1F1EF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9FB0C6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537960" y="1911096"/>
            <a:ext cx="548640" cy="548640"/>
          </a:xfrm>
          <a:prstGeom prst="ellipse">
            <a:avLst/>
          </a:prstGeom>
          <a:solidFill>
            <a:srgbClr val="0A6B65"/>
          </a:solidFill>
          <a:ln w="12700">
            <a:solidFill>
              <a:srgbClr val="0A6B6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37960" y="19019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205472" y="1911096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Owner performance dashboard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556248" y="2651760"/>
            <a:ext cx="4837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8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brand-new screen so you can see, at a glance, how the agent is doing:</a:t>
            </a:r>
            <a:endParaRPr lang="en-US" sz="1280" dirty="0"/>
          </a:p>
        </p:txBody>
      </p:sp>
      <p:sp>
        <p:nvSpPr>
          <p:cNvPr id="28" name="Shape 26"/>
          <p:cNvSpPr/>
          <p:nvPr/>
        </p:nvSpPr>
        <p:spPr>
          <a:xfrm>
            <a:off x="6556248" y="3154680"/>
            <a:ext cx="4818888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CFE6E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02552" y="3154680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acceptance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759952" y="315468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drafts sent as-is vs edited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556248" y="3575304"/>
            <a:ext cx="4818888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CFE6E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02552" y="3575304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 handled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759952" y="3575304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per day / week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556248" y="3995928"/>
            <a:ext cx="4818888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CFE6E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02552" y="3995928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saved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759952" y="3995928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hours the AI saved your team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556248" y="4416552"/>
            <a:ext cx="4818888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CFE6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702552" y="4416552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topics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759952" y="441655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customers ask about most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556248" y="4837176"/>
            <a:ext cx="4818888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CFE6E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702552" y="4837176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8759952" y="483717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tickets flagged for a human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556248" y="5440680"/>
            <a:ext cx="274320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6556248" y="544068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88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EST:  ~1–1.5 WEEKS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Buttons Bebe  ·  AI Support Agent — Phase 2 &amp; 3 Plan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8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·  FEATURE GROUPS D &amp; 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Smarter context — and a first careful step toward autonomy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5440680" cy="3977640"/>
          </a:xfrm>
          <a:prstGeom prst="roundRect">
            <a:avLst>
              <a:gd name="adj" fmla="val 2299"/>
            </a:avLst>
          </a:prstGeom>
          <a:solidFill>
            <a:srgbClr val="F4F7FB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9FB0C6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95528" y="1956816"/>
            <a:ext cx="548640" cy="548640"/>
          </a:xfrm>
          <a:prstGeom prst="ellipse">
            <a:avLst/>
          </a:prstGeom>
          <a:solidFill>
            <a:srgbClr val="0E8F87"/>
          </a:solidFill>
          <a:ln w="12700">
            <a:solidFill>
              <a:srgbClr val="0E8F8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19476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1956816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order &amp; shipping status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13816" y="2743200"/>
            <a:ext cx="48371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draft can include the real, up-to-the-minute order status and tracking link — so “where is my order?” answers itself, accurately.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13816" y="4160520"/>
            <a:ext cx="4837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 the finished Shopify connection from group 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3816" y="5056632"/>
            <a:ext cx="2286000" cy="329184"/>
          </a:xfrm>
          <a:prstGeom prst="roundRect">
            <a:avLst>
              <a:gd name="adj" fmla="val 50000"/>
            </a:avLst>
          </a:prstGeom>
          <a:solidFill>
            <a:srgbClr val="FBF0DC"/>
          </a:solidFill>
          <a:ln/>
        </p:spPr>
      </p:sp>
      <p:sp>
        <p:nvSpPr>
          <p:cNvPr id="11" name="Text 9"/>
          <p:cNvSpPr/>
          <p:nvPr/>
        </p:nvSpPr>
        <p:spPr>
          <a:xfrm>
            <a:off x="813816" y="505663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88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EST:  ~1–2 DAYS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45352" y="1645920"/>
            <a:ext cx="5440680" cy="3977640"/>
          </a:xfrm>
          <a:prstGeom prst="roundRect">
            <a:avLst>
              <a:gd name="adj" fmla="val 2299"/>
            </a:avLst>
          </a:prstGeom>
          <a:solidFill>
            <a:srgbClr val="E9EAFB"/>
          </a:solidFill>
          <a:ln w="15875">
            <a:solidFill>
              <a:srgbClr val="4B54C7"/>
            </a:solidFill>
            <a:prstDash val="solid"/>
          </a:ln>
          <a:effectLst>
            <a:outerShdw sx="100000" sy="100000" kx="0" ky="0" algn="bl" rotWithShape="0" blurRad="114300" dist="38100" dir="5400000">
              <a:srgbClr val="9FB0C6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37960" y="1956816"/>
            <a:ext cx="548640" cy="548640"/>
          </a:xfrm>
          <a:prstGeom prst="ellipse">
            <a:avLst/>
          </a:prstGeom>
          <a:solidFill>
            <a:srgbClr val="4B54C7"/>
          </a:solidFill>
          <a:ln w="12700">
            <a:solidFill>
              <a:srgbClr val="4B54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19476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205472" y="1956816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Auto-send pilot — ONE safe topic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6556248" y="2743200"/>
            <a:ext cx="483717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2B2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stretch: let the AI send its own reply for a single, very low-risk topic (order status) — behind confidence checks, the safety net, full logging, and a one-click kill switch.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556248" y="4297680"/>
            <a:ext cx="4818888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4B54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02552" y="4297680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43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tickets are never in scope — the bridge to Phase 3.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556248" y="5056632"/>
            <a:ext cx="292608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6556248" y="505663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88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EST:  ~1 WEEK  (stretch)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Buttons Bebe  ·  AI Support Agent — Phase 2 &amp; 3 Plan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8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·  TIMELINE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 estimates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 build + test time for one person. Ranges leave room for testing and surprises.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8745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Rock-solid foundation (group A)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160520" y="2002536"/>
            <a:ext cx="5486400" cy="310896"/>
          </a:xfrm>
          <a:prstGeom prst="roundRect">
            <a:avLst>
              <a:gd name="adj" fmla="val 50000"/>
            </a:avLst>
          </a:prstGeom>
          <a:solidFill>
            <a:srgbClr val="E9F0F8"/>
          </a:solidFill>
          <a:ln w="12700">
            <a:solidFill>
              <a:srgbClr val="E9F0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60520" y="2002536"/>
            <a:ext cx="4937760" cy="310896"/>
          </a:xfrm>
          <a:prstGeom prst="roundRect">
            <a:avLst>
              <a:gd name="adj" fmla="val 50000"/>
            </a:avLst>
          </a:prstGeom>
          <a:solidFill>
            <a:srgbClr val="0E8F87"/>
          </a:solidFill>
          <a:ln w="12700">
            <a:solidFill>
              <a:srgbClr val="0E8F8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829800" y="1993392"/>
            <a:ext cx="1600200" cy="329184"/>
          </a:xfrm>
          <a:prstGeom prst="roundRect">
            <a:avLst>
              <a:gd name="adj" fmla="val 50000"/>
            </a:avLst>
          </a:prstGeom>
          <a:solidFill>
            <a:srgbClr val="FBF0DC"/>
          </a:solidFill>
          <a:ln/>
        </p:spPr>
      </p:sp>
      <p:sp>
        <p:nvSpPr>
          <p:cNvPr id="9" name="Text 7"/>
          <p:cNvSpPr/>
          <p:nvPr/>
        </p:nvSpPr>
        <p:spPr>
          <a:xfrm>
            <a:off x="9829800" y="1993392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88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~8–10 days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" y="253288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loop, proven ON (B)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160520" y="2660904"/>
            <a:ext cx="5486400" cy="310896"/>
          </a:xfrm>
          <a:prstGeom prst="roundRect">
            <a:avLst>
              <a:gd name="adj" fmla="val 50000"/>
            </a:avLst>
          </a:prstGeom>
          <a:solidFill>
            <a:srgbClr val="E9F0F8"/>
          </a:solidFill>
          <a:ln w="12700">
            <a:solidFill>
              <a:srgbClr val="E9F0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60520" y="2660904"/>
            <a:ext cx="2468880" cy="310896"/>
          </a:xfrm>
          <a:prstGeom prst="roundRect">
            <a:avLst>
              <a:gd name="adj" fmla="val 50000"/>
            </a:avLst>
          </a:prstGeom>
          <a:solidFill>
            <a:srgbClr val="0E8F87"/>
          </a:solidFill>
          <a:ln w="12700">
            <a:solidFill>
              <a:srgbClr val="0E8F8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829800" y="2651760"/>
            <a:ext cx="1600200" cy="329184"/>
          </a:xfrm>
          <a:prstGeom prst="roundRect">
            <a:avLst>
              <a:gd name="adj" fmla="val 50000"/>
            </a:avLst>
          </a:prstGeom>
          <a:solidFill>
            <a:srgbClr val="FBF0DC"/>
          </a:solidFill>
          <a:ln/>
        </p:spPr>
      </p:sp>
      <p:sp>
        <p:nvSpPr>
          <p:cNvPr id="14" name="Text 12"/>
          <p:cNvSpPr/>
          <p:nvPr/>
        </p:nvSpPr>
        <p:spPr>
          <a:xfrm>
            <a:off x="9829800" y="265176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88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week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02920" y="319125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dashboard (C)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160520" y="3319272"/>
            <a:ext cx="5486400" cy="310896"/>
          </a:xfrm>
          <a:prstGeom prst="roundRect">
            <a:avLst>
              <a:gd name="adj" fmla="val 50000"/>
            </a:avLst>
          </a:prstGeom>
          <a:solidFill>
            <a:srgbClr val="E9F0F8"/>
          </a:solidFill>
          <a:ln w="12700">
            <a:solidFill>
              <a:srgbClr val="E9F0F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60520" y="3319272"/>
            <a:ext cx="3291840" cy="310896"/>
          </a:xfrm>
          <a:prstGeom prst="roundRect">
            <a:avLst>
              <a:gd name="adj" fmla="val 50000"/>
            </a:avLst>
          </a:prstGeom>
          <a:solidFill>
            <a:srgbClr val="0E8F87"/>
          </a:solidFill>
          <a:ln w="12700">
            <a:solidFill>
              <a:srgbClr val="0E8F8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829800" y="3310128"/>
            <a:ext cx="1600200" cy="329184"/>
          </a:xfrm>
          <a:prstGeom prst="roundRect">
            <a:avLst>
              <a:gd name="adj" fmla="val 50000"/>
            </a:avLst>
          </a:prstGeom>
          <a:solidFill>
            <a:srgbClr val="FBF0DC"/>
          </a:solidFill>
          <a:ln/>
        </p:spPr>
      </p:sp>
      <p:sp>
        <p:nvSpPr>
          <p:cNvPr id="19" name="Text 17"/>
          <p:cNvSpPr/>
          <p:nvPr/>
        </p:nvSpPr>
        <p:spPr>
          <a:xfrm>
            <a:off x="9829800" y="3310128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88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~1–1.5 weeks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02920" y="384962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order &amp; shipping context (D)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160520" y="3977640"/>
            <a:ext cx="5486400" cy="310896"/>
          </a:xfrm>
          <a:prstGeom prst="roundRect">
            <a:avLst>
              <a:gd name="adj" fmla="val 50000"/>
            </a:avLst>
          </a:prstGeom>
          <a:solidFill>
            <a:srgbClr val="E9F0F8"/>
          </a:solidFill>
          <a:ln w="12700">
            <a:solidFill>
              <a:srgbClr val="E9F0F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60520" y="397764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0E8F87"/>
          </a:solidFill>
          <a:ln w="12700">
            <a:solidFill>
              <a:srgbClr val="0E8F8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829800" y="3968496"/>
            <a:ext cx="1600200" cy="329184"/>
          </a:xfrm>
          <a:prstGeom prst="roundRect">
            <a:avLst>
              <a:gd name="adj" fmla="val 50000"/>
            </a:avLst>
          </a:prstGeom>
          <a:solidFill>
            <a:srgbClr val="FBF0DC"/>
          </a:solidFill>
          <a:ln/>
        </p:spPr>
      </p:sp>
      <p:sp>
        <p:nvSpPr>
          <p:cNvPr id="24" name="Text 22"/>
          <p:cNvSpPr/>
          <p:nvPr/>
        </p:nvSpPr>
        <p:spPr>
          <a:xfrm>
            <a:off x="9829800" y="3968496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88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~1–2 days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02920" y="450799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Auto-send pilot — stretch (E)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160520" y="4636008"/>
            <a:ext cx="5486400" cy="310896"/>
          </a:xfrm>
          <a:prstGeom prst="roundRect">
            <a:avLst>
              <a:gd name="adj" fmla="val 50000"/>
            </a:avLst>
          </a:prstGeom>
          <a:solidFill>
            <a:srgbClr val="E9F0F8"/>
          </a:solidFill>
          <a:ln w="12700">
            <a:solidFill>
              <a:srgbClr val="E9F0F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160520" y="4636008"/>
            <a:ext cx="2743200" cy="310896"/>
          </a:xfrm>
          <a:prstGeom prst="roundRect">
            <a:avLst>
              <a:gd name="adj" fmla="val 50000"/>
            </a:avLst>
          </a:prstGeom>
          <a:solidFill>
            <a:srgbClr val="4B54C7"/>
          </a:solidFill>
          <a:ln w="12700">
            <a:solidFill>
              <a:srgbClr val="4B54C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829800" y="4626864"/>
            <a:ext cx="1600200" cy="329184"/>
          </a:xfrm>
          <a:prstGeom prst="roundRect">
            <a:avLst>
              <a:gd name="adj" fmla="val 50000"/>
            </a:avLst>
          </a:prstGeom>
          <a:solidFill>
            <a:srgbClr val="FBF0DC"/>
          </a:solidFill>
          <a:ln/>
        </p:spPr>
      </p:sp>
      <p:sp>
        <p:nvSpPr>
          <p:cNvPr id="29" name="Text 27"/>
          <p:cNvSpPr/>
          <p:nvPr/>
        </p:nvSpPr>
        <p:spPr>
          <a:xfrm>
            <a:off x="9829800" y="4626864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88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week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02920" y="5440680"/>
            <a:ext cx="11183112" cy="868680"/>
          </a:xfrm>
          <a:prstGeom prst="roundRect">
            <a:avLst>
              <a:gd name="adj" fmla="val 10526"/>
            </a:avLst>
          </a:prstGeom>
          <a:solidFill>
            <a:srgbClr val="16233B"/>
          </a:solidFill>
          <a:ln w="12700">
            <a:solidFill>
              <a:srgbClr val="16233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5440680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total:  </a:t>
            </a:r>
            <a:pPr indent="0" marL="0">
              <a:buNone/>
            </a:pPr>
            <a:r>
              <a:rPr lang="en-US" sz="2200" b="1" dirty="0">
                <a:solidFill>
                  <a:srgbClr val="8FE3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~4–6 weeks</a:t>
            </a:r>
            <a:pPr indent="0" marL="0">
              <a:buNone/>
            </a:pPr>
            <a:r>
              <a:rPr lang="en-US" sz="1300" i="1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(core A–D ~4 weeks  ·  pilot E adds ~1 week)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Buttons Bebe  ·  AI Support Agent — Phase 2 &amp; 3 Plan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88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·  YOUR INPUT UNBLOCKS ACCURACY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quick answers we need from you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is only as accurate as the policies it's given. A few confirmed answers replace today's cautious placeholders.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11183112" cy="758952"/>
          </a:xfrm>
          <a:prstGeom prst="roundRect">
            <a:avLst>
              <a:gd name="adj" fmla="val 10843"/>
            </a:avLst>
          </a:prstGeom>
          <a:solidFill>
            <a:srgbClr val="FBF0DC"/>
          </a:solidFill>
          <a:ln w="12700">
            <a:solidFill>
              <a:srgbClr val="E7CF9E"/>
            </a:solidFill>
            <a:prstDash val="solid"/>
          </a:ln>
          <a:effectLst>
            <a:outerShdw sx="100000" sy="100000" kx="0" ky="0" algn="bl" rotWithShape="0" blurRad="114300" dist="38100" dir="5400000">
              <a:srgbClr val="9FB0C6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58952" y="2025396"/>
            <a:ext cx="457200" cy="457200"/>
          </a:xfrm>
          <a:prstGeom prst="ellipse">
            <a:avLst/>
          </a:prstGeom>
          <a:solidFill>
            <a:srgbClr val="C8811A"/>
          </a:solidFill>
          <a:ln w="12700">
            <a:solidFill>
              <a:srgbClr val="C881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20253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17320" y="1874520"/>
            <a:ext cx="31089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53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 window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26280" y="1874520"/>
            <a:ext cx="688543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days do customers have to return?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2779776"/>
            <a:ext cx="11183112" cy="758952"/>
          </a:xfrm>
          <a:prstGeom prst="roundRect">
            <a:avLst>
              <a:gd name="adj" fmla="val 10843"/>
            </a:avLst>
          </a:prstGeom>
          <a:solidFill>
            <a:srgbClr val="FBF0DC"/>
          </a:solidFill>
          <a:ln w="12700">
            <a:solidFill>
              <a:srgbClr val="E7CF9E"/>
            </a:solidFill>
            <a:prstDash val="solid"/>
          </a:ln>
          <a:effectLst>
            <a:outerShdw sx="100000" sy="100000" kx="0" ky="0" algn="bl" rotWithShape="0" blurRad="114300" dist="38100" dir="5400000">
              <a:srgbClr val="9FB0C6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58952" y="2930652"/>
            <a:ext cx="457200" cy="457200"/>
          </a:xfrm>
          <a:prstGeom prst="ellipse">
            <a:avLst/>
          </a:prstGeom>
          <a:solidFill>
            <a:srgbClr val="C8811A"/>
          </a:solidFill>
          <a:ln w="12700">
            <a:solidFill>
              <a:srgbClr val="C881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8952" y="29306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17320" y="2779776"/>
            <a:ext cx="31089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53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 shipping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26280" y="2779776"/>
            <a:ext cx="688543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pays return postage — you or the customer?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3685032"/>
            <a:ext cx="11183112" cy="758952"/>
          </a:xfrm>
          <a:prstGeom prst="roundRect">
            <a:avLst>
              <a:gd name="adj" fmla="val 10843"/>
            </a:avLst>
          </a:prstGeom>
          <a:solidFill>
            <a:srgbClr val="FBF0DC"/>
          </a:solidFill>
          <a:ln w="12700">
            <a:solidFill>
              <a:srgbClr val="E7CF9E"/>
            </a:solidFill>
            <a:prstDash val="solid"/>
          </a:ln>
          <a:effectLst>
            <a:outerShdw sx="100000" sy="100000" kx="0" ky="0" algn="bl" rotWithShape="0" blurRad="114300" dist="38100" dir="5400000">
              <a:srgbClr val="9FB0C6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58952" y="3835908"/>
            <a:ext cx="457200" cy="457200"/>
          </a:xfrm>
          <a:prstGeom prst="ellipse">
            <a:avLst/>
          </a:prstGeom>
          <a:solidFill>
            <a:srgbClr val="C8811A"/>
          </a:solidFill>
          <a:ln w="12700">
            <a:solidFill>
              <a:srgbClr val="C881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38359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3685032"/>
            <a:ext cx="31089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53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Sale-season rules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26280" y="3685032"/>
            <a:ext cx="688543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sale / clearance items final, or returnable?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" y="4590288"/>
            <a:ext cx="11183112" cy="758952"/>
          </a:xfrm>
          <a:prstGeom prst="roundRect">
            <a:avLst>
              <a:gd name="adj" fmla="val 10843"/>
            </a:avLst>
          </a:prstGeom>
          <a:solidFill>
            <a:srgbClr val="FBF0DC"/>
          </a:solidFill>
          <a:ln w="12700">
            <a:solidFill>
              <a:srgbClr val="E7CF9E"/>
            </a:solidFill>
            <a:prstDash val="solid"/>
          </a:ln>
          <a:effectLst>
            <a:outerShdw sx="100000" sy="100000" kx="0" ky="0" algn="bl" rotWithShape="0" blurRad="114300" dist="38100" dir="5400000">
              <a:srgbClr val="9FB0C6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58952" y="4741164"/>
            <a:ext cx="457200" cy="457200"/>
          </a:xfrm>
          <a:prstGeom prst="ellipse">
            <a:avLst/>
          </a:prstGeom>
          <a:solidFill>
            <a:srgbClr val="C8811A"/>
          </a:solidFill>
          <a:ln w="12700">
            <a:solidFill>
              <a:srgbClr val="C881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8952" y="47411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17320" y="4590288"/>
            <a:ext cx="31089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53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International rates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526280" y="4590288"/>
            <a:ext cx="688543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real shipping cost outside the country?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02920" y="5495544"/>
            <a:ext cx="11183112" cy="758952"/>
          </a:xfrm>
          <a:prstGeom prst="roundRect">
            <a:avLst>
              <a:gd name="adj" fmla="val 10843"/>
            </a:avLst>
          </a:prstGeom>
          <a:solidFill>
            <a:srgbClr val="FBF0DC"/>
          </a:solidFill>
          <a:ln w="12700">
            <a:solidFill>
              <a:srgbClr val="E7CF9E"/>
            </a:solidFill>
            <a:prstDash val="solid"/>
          </a:ln>
          <a:effectLst>
            <a:outerShdw sx="100000" sy="100000" kx="0" ky="0" algn="bl" rotWithShape="0" blurRad="114300" dist="38100" dir="5400000">
              <a:srgbClr val="9FB0C6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58952" y="5646420"/>
            <a:ext cx="457200" cy="457200"/>
          </a:xfrm>
          <a:prstGeom prst="ellipse">
            <a:avLst/>
          </a:prstGeom>
          <a:solidFill>
            <a:srgbClr val="C8811A"/>
          </a:solidFill>
          <a:ln w="12700">
            <a:solidFill>
              <a:srgbClr val="C8811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8952" y="56464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417320" y="5495544"/>
            <a:ext cx="31089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A53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Pickup vs return bin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526280" y="5495544"/>
            <a:ext cx="688543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pickup spot and the 24/7 return-bin address.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Buttons Bebe  ·  AI Support Agent — Phase 2 &amp; 3 Plan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1463040"/>
            <a:ext cx="6400800" cy="6949440"/>
          </a:xfrm>
          <a:prstGeom prst="roundRect">
            <a:avLst>
              <a:gd name="adj" fmla="val 4286"/>
            </a:avLst>
          </a:prstGeom>
          <a:solidFill>
            <a:srgbClr val="22344F"/>
          </a:solidFill>
          <a:ln w="12700">
            <a:solidFill>
              <a:srgbClr val="2234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371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AEB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03504" y="18288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Autonomous &amp; Multi-channel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40080" y="288036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50" dirty="0">
                <a:solidFill>
                  <a:srgbClr val="C7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handles routine tickets end-to-end, reaches customers on more channels, and can take real actions — while you supervise the exceptions.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640080" y="4069080"/>
            <a:ext cx="4754880" cy="329184"/>
          </a:xfrm>
          <a:prstGeom prst="roundRect">
            <a:avLst>
              <a:gd name="adj" fmla="val 50000"/>
            </a:avLst>
          </a:prstGeom>
          <a:solidFill>
            <a:srgbClr val="AEB4F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406908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ESTIMATE:  ~3–4 MONTHS, IN STAGES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40080" y="4617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feature-by-feature — each one live before the next begins.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4B5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 ·  WHY IT MATTERS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changes for you in Phase 3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3611880" cy="3063240"/>
          </a:xfrm>
          <a:prstGeom prst="roundRect">
            <a:avLst>
              <a:gd name="adj" fmla="val 2985"/>
            </a:avLst>
          </a:prstGeom>
          <a:solidFill>
            <a:srgbClr val="F4F7FB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9FB0C6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25396" y="1993392"/>
            <a:ext cx="566928" cy="566928"/>
          </a:xfrm>
          <a:prstGeom prst="ellipse">
            <a:avLst/>
          </a:prstGeom>
          <a:solidFill>
            <a:srgbClr val="4B54C7"/>
          </a:solidFill>
          <a:ln w="12700">
            <a:solidFill>
              <a:srgbClr val="4B54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25396" y="19842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40664" y="2743200"/>
            <a:ext cx="3136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Routine tickets answer themselves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58952" y="3520440"/>
            <a:ext cx="30998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3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questions are resolved without a human touching them — your team focuses on the hard cases.</a:t>
            </a:r>
            <a:endParaRPr lang="en-US" sz="1230" dirty="0"/>
          </a:p>
        </p:txBody>
      </p:sp>
      <p:sp>
        <p:nvSpPr>
          <p:cNvPr id="9" name="Shape 7"/>
          <p:cNvSpPr/>
          <p:nvPr/>
        </p:nvSpPr>
        <p:spPr>
          <a:xfrm>
            <a:off x="4288536" y="1645920"/>
            <a:ext cx="3611880" cy="3063240"/>
          </a:xfrm>
          <a:prstGeom prst="roundRect">
            <a:avLst>
              <a:gd name="adj" fmla="val 2985"/>
            </a:avLst>
          </a:prstGeom>
          <a:solidFill>
            <a:srgbClr val="E9EAFB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9FB0C6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811012" y="1993392"/>
            <a:ext cx="566928" cy="566928"/>
          </a:xfrm>
          <a:prstGeom prst="ellipse">
            <a:avLst/>
          </a:prstGeom>
          <a:solidFill>
            <a:srgbClr val="4B54C7"/>
          </a:solidFill>
          <a:ln w="12700">
            <a:solidFill>
              <a:srgbClr val="4B54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11012" y="19842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26280" y="2743200"/>
            <a:ext cx="3136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Customers reached anywhere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544568" y="3520440"/>
            <a:ext cx="30998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3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email: website chat, Instagram &amp; Facebook DMs, and text/WhatsApp.</a:t>
            </a:r>
            <a:endParaRPr lang="en-US" sz="1230" dirty="0"/>
          </a:p>
        </p:txBody>
      </p:sp>
      <p:sp>
        <p:nvSpPr>
          <p:cNvPr id="14" name="Shape 12"/>
          <p:cNvSpPr/>
          <p:nvPr/>
        </p:nvSpPr>
        <p:spPr>
          <a:xfrm>
            <a:off x="8074152" y="1645920"/>
            <a:ext cx="3611880" cy="3063240"/>
          </a:xfrm>
          <a:prstGeom prst="roundRect">
            <a:avLst>
              <a:gd name="adj" fmla="val 2985"/>
            </a:avLst>
          </a:prstGeom>
          <a:solidFill>
            <a:srgbClr val="F4F7FB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9FB0C6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596628" y="1993392"/>
            <a:ext cx="566928" cy="566928"/>
          </a:xfrm>
          <a:prstGeom prst="ellipse">
            <a:avLst/>
          </a:prstGeom>
          <a:solidFill>
            <a:srgbClr val="4B54C7"/>
          </a:solidFill>
          <a:ln w="12700">
            <a:solidFill>
              <a:srgbClr val="4B54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96628" y="19842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311896" y="2743200"/>
            <a:ext cx="3136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AI can DO things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330184" y="3520440"/>
            <a:ext cx="30998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3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approval, it issues refunds, starts returns and applies discounts — not just talk about them.</a:t>
            </a:r>
            <a:endParaRPr lang="en-US" sz="1230" dirty="0"/>
          </a:p>
        </p:txBody>
      </p:sp>
      <p:sp>
        <p:nvSpPr>
          <p:cNvPr id="19" name="Shape 17"/>
          <p:cNvSpPr/>
          <p:nvPr/>
        </p:nvSpPr>
        <p:spPr>
          <a:xfrm>
            <a:off x="502920" y="5029200"/>
            <a:ext cx="11183112" cy="868680"/>
          </a:xfrm>
          <a:prstGeom prst="roundRect">
            <a:avLst>
              <a:gd name="adj" fmla="val 10526"/>
            </a:avLst>
          </a:prstGeom>
          <a:solidFill>
            <a:srgbClr val="E4F3EA"/>
          </a:solidFill>
          <a:ln w="15875">
            <a:solidFill>
              <a:srgbClr val="2E9E5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502920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safe: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C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tickets — refunds you haven't approved, disputes, upset customers — always go to a human. Autonomy is switched on one topic at a time, with a kill switch.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Buttons Bebe  ·  AI Support Agent — Phase 2 &amp; 3 Plan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4B5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 ·  THE BIG THREE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three biggest new capabilities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3611880" cy="4023360"/>
          </a:xfrm>
          <a:prstGeom prst="roundRect">
            <a:avLst>
              <a:gd name="adj" fmla="val 2532"/>
            </a:avLst>
          </a:prstGeom>
          <a:solidFill>
            <a:srgbClr val="F4F7FB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9FB0C6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38528"/>
            <a:ext cx="530352" cy="530352"/>
          </a:xfrm>
          <a:prstGeom prst="ellipse">
            <a:avLst/>
          </a:prstGeom>
          <a:solidFill>
            <a:srgbClr val="4B54C7"/>
          </a:solidFill>
          <a:ln w="12700">
            <a:solidFill>
              <a:srgbClr val="4B54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2938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193852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Auto-send graduation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777240" y="2697480"/>
            <a:ext cx="30632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from the pilot to a growing set of safe, high-confidence topics — each with its own on/off switch, confidence threshold and monitoring.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77240" y="5065776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FBF0DC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506577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88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weeks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288536" y="1645920"/>
            <a:ext cx="3611880" cy="4023360"/>
          </a:xfrm>
          <a:prstGeom prst="roundRect">
            <a:avLst>
              <a:gd name="adj" fmla="val 2532"/>
            </a:avLst>
          </a:prstGeom>
          <a:solidFill>
            <a:srgbClr val="F4F7FB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9FB0C6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62856" y="1938528"/>
            <a:ext cx="530352" cy="530352"/>
          </a:xfrm>
          <a:prstGeom prst="ellipse">
            <a:avLst/>
          </a:prstGeom>
          <a:solidFill>
            <a:srgbClr val="4B54C7"/>
          </a:solidFill>
          <a:ln w="12700">
            <a:solidFill>
              <a:srgbClr val="4B54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62856" y="192938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202936" y="193852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Multi-channel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4562856" y="2697480"/>
            <a:ext cx="30632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conversations from website live chat, Instagram &amp; Facebook DMs, and SMS / WhatsApp — not just email tickets.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62856" y="5065776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FBF0DC"/>
          </a:solidFill>
          <a:ln/>
        </p:spPr>
      </p:sp>
      <p:sp>
        <p:nvSpPr>
          <p:cNvPr id="17" name="Text 15"/>
          <p:cNvSpPr/>
          <p:nvPr/>
        </p:nvSpPr>
        <p:spPr>
          <a:xfrm>
            <a:off x="4562856" y="506577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88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 weeks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074152" y="1645920"/>
            <a:ext cx="3611880" cy="4023360"/>
          </a:xfrm>
          <a:prstGeom prst="roundRect">
            <a:avLst>
              <a:gd name="adj" fmla="val 2532"/>
            </a:avLst>
          </a:prstGeom>
          <a:solidFill>
            <a:srgbClr val="F4F7FB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9FB0C6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348472" y="1938528"/>
            <a:ext cx="530352" cy="530352"/>
          </a:xfrm>
          <a:prstGeom prst="ellipse">
            <a:avLst/>
          </a:prstGeom>
          <a:solidFill>
            <a:srgbClr val="4B54C7"/>
          </a:solidFill>
          <a:ln w="12700">
            <a:solidFill>
              <a:srgbClr val="4B54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48472" y="192938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988552" y="193852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Action-taking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8348472" y="2697480"/>
            <a:ext cx="30632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approval (then trusted over time): issue refunds, start &amp; approve returns, apply discount codes, edit or cancel orders.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348472" y="5065776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FBF0DC"/>
          </a:solidFill>
          <a:ln/>
        </p:spPr>
      </p:sp>
      <p:sp>
        <p:nvSpPr>
          <p:cNvPr id="24" name="Text 22"/>
          <p:cNvSpPr/>
          <p:nvPr/>
        </p:nvSpPr>
        <p:spPr>
          <a:xfrm>
            <a:off x="8348472" y="506577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88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weeks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Buttons Bebe  ·  AI Support Agent — Phase 2 &amp; 3 Plan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4B5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 ·  ROUNDING IT OUT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more capabilities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5504688" cy="1920240"/>
          </a:xfrm>
          <a:prstGeom prst="roundRect">
            <a:avLst>
              <a:gd name="adj" fmla="val 4762"/>
            </a:avLst>
          </a:prstGeom>
          <a:solidFill>
            <a:srgbClr val="F4F7FB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9FB0C6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84248"/>
            <a:ext cx="512064" cy="512064"/>
          </a:xfrm>
          <a:prstGeom prst="ellipse">
            <a:avLst/>
          </a:prstGeom>
          <a:solidFill>
            <a:srgbClr val="343CA0"/>
          </a:solidFill>
          <a:ln w="12700">
            <a:solidFill>
              <a:srgbClr val="343C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7510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1965960"/>
            <a:ext cx="2898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Proactive &amp; bulk handling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407408" y="2020824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FBF0DC"/>
          </a:solidFill>
          <a:ln/>
        </p:spPr>
      </p:sp>
      <p:sp>
        <p:nvSpPr>
          <p:cNvPr id="9" name="Text 7"/>
          <p:cNvSpPr/>
          <p:nvPr/>
        </p:nvSpPr>
        <p:spPr>
          <a:xfrm>
            <a:off x="4407408" y="202082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88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weeks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95528" y="2624328"/>
            <a:ext cx="4919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8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a delay hitting many orders, auto-post a Notice, and reply in bulk — before customers even ask.</a:t>
            </a:r>
            <a:endParaRPr lang="en-US" sz="1280" dirty="0"/>
          </a:p>
        </p:txBody>
      </p:sp>
      <p:sp>
        <p:nvSpPr>
          <p:cNvPr id="11" name="Shape 9"/>
          <p:cNvSpPr/>
          <p:nvPr/>
        </p:nvSpPr>
        <p:spPr>
          <a:xfrm>
            <a:off x="6181344" y="1691640"/>
            <a:ext cx="5504688" cy="1920240"/>
          </a:xfrm>
          <a:prstGeom prst="roundRect">
            <a:avLst>
              <a:gd name="adj" fmla="val 4762"/>
            </a:avLst>
          </a:prstGeom>
          <a:solidFill>
            <a:srgbClr val="E9EAFB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9FB0C6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55664" y="1984248"/>
            <a:ext cx="512064" cy="512064"/>
          </a:xfrm>
          <a:prstGeom prst="ellipse">
            <a:avLst/>
          </a:prstGeom>
          <a:solidFill>
            <a:srgbClr val="343CA0"/>
          </a:solidFill>
          <a:ln w="12700">
            <a:solidFill>
              <a:srgbClr val="343C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55664" y="197510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095744" y="1965960"/>
            <a:ext cx="2898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Multi-language at scale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085832" y="2020824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FBF0DC"/>
          </a:solidFill>
          <a:ln/>
        </p:spPr>
      </p:sp>
      <p:sp>
        <p:nvSpPr>
          <p:cNvPr id="16" name="Text 14"/>
          <p:cNvSpPr/>
          <p:nvPr/>
        </p:nvSpPr>
        <p:spPr>
          <a:xfrm>
            <a:off x="10085832" y="202082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88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weeks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473952" y="2624328"/>
            <a:ext cx="4919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8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Detect, reply and learn per language — reliable Hebrew and others, not just English.</a:t>
            </a:r>
            <a:endParaRPr lang="en-US" sz="1280" dirty="0"/>
          </a:p>
        </p:txBody>
      </p:sp>
      <p:sp>
        <p:nvSpPr>
          <p:cNvPr id="18" name="Shape 16"/>
          <p:cNvSpPr/>
          <p:nvPr/>
        </p:nvSpPr>
        <p:spPr>
          <a:xfrm>
            <a:off x="502920" y="3813048"/>
            <a:ext cx="5504688" cy="1920240"/>
          </a:xfrm>
          <a:prstGeom prst="roundRect">
            <a:avLst>
              <a:gd name="adj" fmla="val 4762"/>
            </a:avLst>
          </a:prstGeom>
          <a:solidFill>
            <a:srgbClr val="F4F7FB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9FB0C6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77240" y="4105656"/>
            <a:ext cx="512064" cy="512064"/>
          </a:xfrm>
          <a:prstGeom prst="ellipse">
            <a:avLst/>
          </a:prstGeom>
          <a:solidFill>
            <a:srgbClr val="343CA0"/>
          </a:solidFill>
          <a:ln w="12700">
            <a:solidFill>
              <a:srgbClr val="343C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40965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417320" y="4087368"/>
            <a:ext cx="2898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Continuous-improvement engine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407408" y="4142232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FBF0DC"/>
          </a:solidFill>
          <a:ln/>
        </p:spPr>
      </p:sp>
      <p:sp>
        <p:nvSpPr>
          <p:cNvPr id="23" name="Text 21"/>
          <p:cNvSpPr/>
          <p:nvPr/>
        </p:nvSpPr>
        <p:spPr>
          <a:xfrm>
            <a:off x="4407408" y="414223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88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weeks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95528" y="4745736"/>
            <a:ext cx="4919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8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reply variations, auto-surface gaps in the knowledge base, and a weekly quality report.</a:t>
            </a:r>
            <a:endParaRPr lang="en-US" sz="1280" dirty="0"/>
          </a:p>
        </p:txBody>
      </p:sp>
      <p:sp>
        <p:nvSpPr>
          <p:cNvPr id="25" name="Shape 23"/>
          <p:cNvSpPr/>
          <p:nvPr/>
        </p:nvSpPr>
        <p:spPr>
          <a:xfrm>
            <a:off x="6181344" y="3813048"/>
            <a:ext cx="5504688" cy="1920240"/>
          </a:xfrm>
          <a:prstGeom prst="roundRect">
            <a:avLst>
              <a:gd name="adj" fmla="val 4762"/>
            </a:avLst>
          </a:prstGeom>
          <a:solidFill>
            <a:srgbClr val="E9EAFB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9FB0C6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55664" y="4105656"/>
            <a:ext cx="512064" cy="512064"/>
          </a:xfrm>
          <a:prstGeom prst="ellipse">
            <a:avLst/>
          </a:prstGeom>
          <a:solidFill>
            <a:srgbClr val="343CA0"/>
          </a:solidFill>
          <a:ln w="12700">
            <a:solidFill>
              <a:srgbClr val="343C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55664" y="40965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095744" y="4087368"/>
            <a:ext cx="2898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 &amp; reliability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0085832" y="4142232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FBF0DC"/>
          </a:solidFill>
          <a:ln/>
        </p:spPr>
      </p:sp>
      <p:sp>
        <p:nvSpPr>
          <p:cNvPr id="30" name="Text 28"/>
          <p:cNvSpPr/>
          <p:nvPr/>
        </p:nvSpPr>
        <p:spPr>
          <a:xfrm>
            <a:off x="10085832" y="414223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88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weeks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473952" y="4745736"/>
            <a:ext cx="4919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8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retries, alerting if something breaks, and evaluating a faster / cheaper model.</a:t>
            </a:r>
            <a:endParaRPr lang="en-US" sz="1280" dirty="0"/>
          </a:p>
        </p:txBody>
      </p:sp>
      <p:sp>
        <p:nvSpPr>
          <p:cNvPr id="32" name="Text 30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Buttons Bebe  ·  AI Support Agent — Phase 2 &amp; 3 Plan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4B5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 ·  TIMELINE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3 estimates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of focused build per capability. Delivered in stages — not all at once.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82880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Auto-send graduation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977640" y="1892808"/>
            <a:ext cx="5577840" cy="274320"/>
          </a:xfrm>
          <a:prstGeom prst="roundRect">
            <a:avLst>
              <a:gd name="adj" fmla="val 50000"/>
            </a:avLst>
          </a:prstGeom>
          <a:solidFill>
            <a:srgbClr val="E9F0F8"/>
          </a:solidFill>
          <a:ln w="12700">
            <a:solidFill>
              <a:srgbClr val="E9F0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977640" y="1892808"/>
            <a:ext cx="4183380" cy="274320"/>
          </a:xfrm>
          <a:prstGeom prst="roundRect">
            <a:avLst>
              <a:gd name="adj" fmla="val 50000"/>
            </a:avLst>
          </a:prstGeom>
          <a:solidFill>
            <a:srgbClr val="4B54C7"/>
          </a:solidFill>
          <a:ln w="12700">
            <a:solidFill>
              <a:srgbClr val="4B54C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738360" y="1874520"/>
            <a:ext cx="1508760" cy="329184"/>
          </a:xfrm>
          <a:prstGeom prst="roundRect">
            <a:avLst>
              <a:gd name="adj" fmla="val 50000"/>
            </a:avLst>
          </a:prstGeom>
          <a:solidFill>
            <a:srgbClr val="FBF0DC"/>
          </a:solidFill>
          <a:ln/>
        </p:spPr>
      </p:sp>
      <p:sp>
        <p:nvSpPr>
          <p:cNvPr id="9" name="Text 7"/>
          <p:cNvSpPr/>
          <p:nvPr/>
        </p:nvSpPr>
        <p:spPr>
          <a:xfrm>
            <a:off x="9738360" y="1874520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88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weeks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" y="230428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Multi-channel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977640" y="2368296"/>
            <a:ext cx="5577840" cy="274320"/>
          </a:xfrm>
          <a:prstGeom prst="roundRect">
            <a:avLst>
              <a:gd name="adj" fmla="val 50000"/>
            </a:avLst>
          </a:prstGeom>
          <a:solidFill>
            <a:srgbClr val="E9F0F8"/>
          </a:solidFill>
          <a:ln w="12700">
            <a:solidFill>
              <a:srgbClr val="E9F0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977640" y="2368296"/>
            <a:ext cx="5577840" cy="274320"/>
          </a:xfrm>
          <a:prstGeom prst="roundRect">
            <a:avLst>
              <a:gd name="adj" fmla="val 50000"/>
            </a:avLst>
          </a:prstGeom>
          <a:solidFill>
            <a:srgbClr val="4B54C7"/>
          </a:solidFill>
          <a:ln w="12700">
            <a:solidFill>
              <a:srgbClr val="4B54C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738360" y="2350008"/>
            <a:ext cx="1508760" cy="329184"/>
          </a:xfrm>
          <a:prstGeom prst="roundRect">
            <a:avLst>
              <a:gd name="adj" fmla="val 50000"/>
            </a:avLst>
          </a:prstGeom>
          <a:solidFill>
            <a:srgbClr val="FBF0DC"/>
          </a:solidFill>
          <a:ln/>
        </p:spPr>
      </p:sp>
      <p:sp>
        <p:nvSpPr>
          <p:cNvPr id="14" name="Text 12"/>
          <p:cNvSpPr/>
          <p:nvPr/>
        </p:nvSpPr>
        <p:spPr>
          <a:xfrm>
            <a:off x="9738360" y="2350008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88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 weeks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02920" y="277977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Action-taking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977640" y="2843784"/>
            <a:ext cx="5577840" cy="274320"/>
          </a:xfrm>
          <a:prstGeom prst="roundRect">
            <a:avLst>
              <a:gd name="adj" fmla="val 50000"/>
            </a:avLst>
          </a:prstGeom>
          <a:solidFill>
            <a:srgbClr val="E9F0F8"/>
          </a:solidFill>
          <a:ln w="12700">
            <a:solidFill>
              <a:srgbClr val="E9F0F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977640" y="2843784"/>
            <a:ext cx="5577840" cy="274320"/>
          </a:xfrm>
          <a:prstGeom prst="roundRect">
            <a:avLst>
              <a:gd name="adj" fmla="val 50000"/>
            </a:avLst>
          </a:prstGeom>
          <a:solidFill>
            <a:srgbClr val="4B54C7"/>
          </a:solidFill>
          <a:ln w="12700">
            <a:solidFill>
              <a:srgbClr val="4B54C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738360" y="2825496"/>
            <a:ext cx="1508760" cy="329184"/>
          </a:xfrm>
          <a:prstGeom prst="roundRect">
            <a:avLst>
              <a:gd name="adj" fmla="val 50000"/>
            </a:avLst>
          </a:prstGeom>
          <a:solidFill>
            <a:srgbClr val="FBF0DC"/>
          </a:solidFill>
          <a:ln/>
        </p:spPr>
      </p:sp>
      <p:sp>
        <p:nvSpPr>
          <p:cNvPr id="19" name="Text 17"/>
          <p:cNvSpPr/>
          <p:nvPr/>
        </p:nvSpPr>
        <p:spPr>
          <a:xfrm>
            <a:off x="9738360" y="2825496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88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weeks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02920" y="325526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&amp; bulk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977640" y="3319272"/>
            <a:ext cx="5577840" cy="274320"/>
          </a:xfrm>
          <a:prstGeom prst="roundRect">
            <a:avLst>
              <a:gd name="adj" fmla="val 50000"/>
            </a:avLst>
          </a:prstGeom>
          <a:solidFill>
            <a:srgbClr val="E9F0F8"/>
          </a:solidFill>
          <a:ln w="12700">
            <a:solidFill>
              <a:srgbClr val="E9F0F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977640" y="3319272"/>
            <a:ext cx="2788920" cy="274320"/>
          </a:xfrm>
          <a:prstGeom prst="roundRect">
            <a:avLst>
              <a:gd name="adj" fmla="val 50000"/>
            </a:avLst>
          </a:prstGeom>
          <a:solidFill>
            <a:srgbClr val="4B54C7"/>
          </a:solidFill>
          <a:ln w="12700">
            <a:solidFill>
              <a:srgbClr val="4B54C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738360" y="3300984"/>
            <a:ext cx="1508760" cy="329184"/>
          </a:xfrm>
          <a:prstGeom prst="roundRect">
            <a:avLst>
              <a:gd name="adj" fmla="val 50000"/>
            </a:avLst>
          </a:prstGeom>
          <a:solidFill>
            <a:srgbClr val="FBF0DC"/>
          </a:solidFill>
          <a:ln/>
        </p:spPr>
      </p:sp>
      <p:sp>
        <p:nvSpPr>
          <p:cNvPr id="24" name="Text 22"/>
          <p:cNvSpPr/>
          <p:nvPr/>
        </p:nvSpPr>
        <p:spPr>
          <a:xfrm>
            <a:off x="9738360" y="3300984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88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weeks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02920" y="373075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at scale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977640" y="3794760"/>
            <a:ext cx="5577840" cy="274320"/>
          </a:xfrm>
          <a:prstGeom prst="roundRect">
            <a:avLst>
              <a:gd name="adj" fmla="val 50000"/>
            </a:avLst>
          </a:prstGeom>
          <a:solidFill>
            <a:srgbClr val="E9F0F8"/>
          </a:solidFill>
          <a:ln w="12700">
            <a:solidFill>
              <a:srgbClr val="E9F0F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977640" y="3794760"/>
            <a:ext cx="2788920" cy="274320"/>
          </a:xfrm>
          <a:prstGeom prst="roundRect">
            <a:avLst>
              <a:gd name="adj" fmla="val 50000"/>
            </a:avLst>
          </a:prstGeom>
          <a:solidFill>
            <a:srgbClr val="4B54C7"/>
          </a:solidFill>
          <a:ln w="12700">
            <a:solidFill>
              <a:srgbClr val="4B54C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738360" y="3776472"/>
            <a:ext cx="1508760" cy="329184"/>
          </a:xfrm>
          <a:prstGeom prst="roundRect">
            <a:avLst>
              <a:gd name="adj" fmla="val 50000"/>
            </a:avLst>
          </a:prstGeom>
          <a:solidFill>
            <a:srgbClr val="FBF0DC"/>
          </a:solidFill>
          <a:ln/>
        </p:spPr>
      </p:sp>
      <p:sp>
        <p:nvSpPr>
          <p:cNvPr id="29" name="Text 27"/>
          <p:cNvSpPr/>
          <p:nvPr/>
        </p:nvSpPr>
        <p:spPr>
          <a:xfrm>
            <a:off x="9738360" y="3776472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88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weeks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02920" y="420624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improvement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977640" y="4270248"/>
            <a:ext cx="5577840" cy="274320"/>
          </a:xfrm>
          <a:prstGeom prst="roundRect">
            <a:avLst>
              <a:gd name="adj" fmla="val 50000"/>
            </a:avLst>
          </a:prstGeom>
          <a:solidFill>
            <a:srgbClr val="E9F0F8"/>
          </a:solidFill>
          <a:ln w="12700">
            <a:solidFill>
              <a:srgbClr val="E9F0F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977640" y="4270248"/>
            <a:ext cx="4183380" cy="274320"/>
          </a:xfrm>
          <a:prstGeom prst="roundRect">
            <a:avLst>
              <a:gd name="adj" fmla="val 50000"/>
            </a:avLst>
          </a:prstGeom>
          <a:solidFill>
            <a:srgbClr val="4B54C7"/>
          </a:solidFill>
          <a:ln w="12700">
            <a:solidFill>
              <a:srgbClr val="4B54C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738360" y="4251960"/>
            <a:ext cx="1508760" cy="329184"/>
          </a:xfrm>
          <a:prstGeom prst="roundRect">
            <a:avLst>
              <a:gd name="adj" fmla="val 50000"/>
            </a:avLst>
          </a:prstGeom>
          <a:solidFill>
            <a:srgbClr val="FBF0DC"/>
          </a:solidFill>
          <a:ln/>
        </p:spPr>
      </p:sp>
      <p:sp>
        <p:nvSpPr>
          <p:cNvPr id="34" name="Text 32"/>
          <p:cNvSpPr/>
          <p:nvPr/>
        </p:nvSpPr>
        <p:spPr>
          <a:xfrm>
            <a:off x="9738360" y="4251960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88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weeks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02920" y="468172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&amp; reliability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977640" y="4745736"/>
            <a:ext cx="5577840" cy="274320"/>
          </a:xfrm>
          <a:prstGeom prst="roundRect">
            <a:avLst>
              <a:gd name="adj" fmla="val 50000"/>
            </a:avLst>
          </a:prstGeom>
          <a:solidFill>
            <a:srgbClr val="E9F0F8"/>
          </a:solidFill>
          <a:ln w="12700">
            <a:solidFill>
              <a:srgbClr val="E9F0F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977640" y="4745736"/>
            <a:ext cx="2788920" cy="274320"/>
          </a:xfrm>
          <a:prstGeom prst="roundRect">
            <a:avLst>
              <a:gd name="adj" fmla="val 50000"/>
            </a:avLst>
          </a:prstGeom>
          <a:solidFill>
            <a:srgbClr val="4B54C7"/>
          </a:solidFill>
          <a:ln w="12700">
            <a:solidFill>
              <a:srgbClr val="4B54C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738360" y="4727448"/>
            <a:ext cx="1508760" cy="329184"/>
          </a:xfrm>
          <a:prstGeom prst="roundRect">
            <a:avLst>
              <a:gd name="adj" fmla="val 50000"/>
            </a:avLst>
          </a:prstGeom>
          <a:solidFill>
            <a:srgbClr val="FBF0DC"/>
          </a:solidFill>
          <a:ln/>
        </p:spPr>
      </p:sp>
      <p:sp>
        <p:nvSpPr>
          <p:cNvPr id="39" name="Text 37"/>
          <p:cNvSpPr/>
          <p:nvPr/>
        </p:nvSpPr>
        <p:spPr>
          <a:xfrm>
            <a:off x="9738360" y="4727448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88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weeks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502920" y="5532120"/>
            <a:ext cx="11183112" cy="822960"/>
          </a:xfrm>
          <a:prstGeom prst="roundRect">
            <a:avLst>
              <a:gd name="adj" fmla="val 11111"/>
            </a:avLst>
          </a:prstGeom>
          <a:solidFill>
            <a:srgbClr val="16233B"/>
          </a:solidFill>
          <a:ln w="12700">
            <a:solidFill>
              <a:srgbClr val="16233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77240" y="55321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total:  </a:t>
            </a:r>
            <a:pPr indent="0" marL="0">
              <a:buNone/>
            </a:pPr>
            <a:r>
              <a:rPr lang="en-US" sz="2200" b="1" dirty="0">
                <a:solidFill>
                  <a:srgbClr val="AEB4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~3–4 months</a:t>
            </a:r>
            <a:pPr indent="0" marL="0">
              <a:buNone/>
            </a:pPr>
            <a:r>
              <a:rPr lang="en-US" sz="1300" i="1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delivered feature-by-feature, each live before the next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Buttons Bebe  ·  AI Support Agent — Phase 2 &amp; 3 Plan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PICTURE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 at a glance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11183112" cy="1207008"/>
          </a:xfrm>
          <a:prstGeom prst="roundRect">
            <a:avLst>
              <a:gd name="adj" fmla="val 8333"/>
            </a:avLst>
          </a:prstGeom>
          <a:solidFill>
            <a:srgbClr val="E4F3EA"/>
          </a:solidFill>
          <a:ln w="15875">
            <a:solidFill>
              <a:srgbClr val="2E9E5B"/>
            </a:solidFill>
            <a:prstDash val="solid"/>
          </a:ln>
          <a:effectLst>
            <a:outerShdw sx="100000" sy="100000" kx="0" ky="0" algn="bl" rotWithShape="0" blurRad="114300" dist="38100" dir="5400000">
              <a:srgbClr val="9FB0C6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48256"/>
            <a:ext cx="1965960" cy="676656"/>
          </a:xfrm>
          <a:prstGeom prst="roundRect">
            <a:avLst>
              <a:gd name="adj" fmla="val 13514"/>
            </a:avLst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048256"/>
            <a:ext cx="1965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017520" y="1956816"/>
            <a:ext cx="8348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 — Copilot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017520" y="2377440"/>
            <a:ext cx="83484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8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Live: AI drafts, human sends</a:t>
            </a:r>
            <a:endParaRPr lang="en-US" sz="1280" dirty="0"/>
          </a:p>
        </p:txBody>
      </p:sp>
      <p:sp>
        <p:nvSpPr>
          <p:cNvPr id="9" name="Shape 7"/>
          <p:cNvSpPr/>
          <p:nvPr/>
        </p:nvSpPr>
        <p:spPr>
          <a:xfrm>
            <a:off x="502920" y="3090672"/>
            <a:ext cx="11183112" cy="1207008"/>
          </a:xfrm>
          <a:prstGeom prst="roundRect">
            <a:avLst>
              <a:gd name="adj" fmla="val 8333"/>
            </a:avLst>
          </a:prstGeom>
          <a:solidFill>
            <a:srgbClr val="E1F1EF"/>
          </a:solidFill>
          <a:ln w="15875">
            <a:solidFill>
              <a:srgbClr val="0E8F87"/>
            </a:solidFill>
            <a:prstDash val="solid"/>
          </a:ln>
          <a:effectLst>
            <a:outerShdw sx="100000" sy="100000" kx="0" ky="0" algn="bl" rotWithShape="0" blurRad="114300" dist="38100" dir="5400000">
              <a:srgbClr val="9FB0C6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3401568"/>
            <a:ext cx="1965960" cy="676656"/>
          </a:xfrm>
          <a:prstGeom prst="roundRect">
            <a:avLst>
              <a:gd name="adj" fmla="val 13514"/>
            </a:avLst>
          </a:prstGeom>
          <a:solidFill>
            <a:srgbClr val="0E8F87"/>
          </a:solidFill>
          <a:ln w="12700">
            <a:solidFill>
              <a:srgbClr val="0E8F8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401568"/>
            <a:ext cx="1965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1–6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017520" y="3310128"/>
            <a:ext cx="8348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 — Trustworthy &amp; Visible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017520" y="3730752"/>
            <a:ext cx="83484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8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Hardening · proven learning · owner dashboard · live order data · auto-send pilot</a:t>
            </a:r>
            <a:endParaRPr lang="en-US" sz="1280" dirty="0"/>
          </a:p>
        </p:txBody>
      </p:sp>
      <p:sp>
        <p:nvSpPr>
          <p:cNvPr id="14" name="Shape 12"/>
          <p:cNvSpPr/>
          <p:nvPr/>
        </p:nvSpPr>
        <p:spPr>
          <a:xfrm>
            <a:off x="502920" y="4443984"/>
            <a:ext cx="11183112" cy="1207008"/>
          </a:xfrm>
          <a:prstGeom prst="roundRect">
            <a:avLst>
              <a:gd name="adj" fmla="val 8333"/>
            </a:avLst>
          </a:prstGeom>
          <a:solidFill>
            <a:srgbClr val="E9EAFB"/>
          </a:solidFill>
          <a:ln w="15875">
            <a:solidFill>
              <a:srgbClr val="4B54C7"/>
            </a:solidFill>
            <a:prstDash val="solid"/>
          </a:ln>
          <a:effectLst>
            <a:outerShdw sx="100000" sy="100000" kx="0" ky="0" algn="bl" rotWithShape="0" blurRad="114300" dist="38100" dir="5400000">
              <a:srgbClr val="9FB0C6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4754880"/>
            <a:ext cx="1965960" cy="676656"/>
          </a:xfrm>
          <a:prstGeom prst="roundRect">
            <a:avLst>
              <a:gd name="adj" fmla="val 13514"/>
            </a:avLst>
          </a:prstGeom>
          <a:solidFill>
            <a:srgbClr val="4B54C7"/>
          </a:solidFill>
          <a:ln w="12700">
            <a:solidFill>
              <a:srgbClr val="4B54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754880"/>
            <a:ext cx="1965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2–5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017520" y="4663440"/>
            <a:ext cx="8348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3 — Autonomous &amp; Multi-channel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017520" y="5084064"/>
            <a:ext cx="83484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8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Auto-send graduation · new channels · refunds/returns actions · proactive · languages · scale</a:t>
            </a:r>
            <a:endParaRPr lang="en-US" sz="1280" dirty="0"/>
          </a:p>
        </p:txBody>
      </p:sp>
      <p:sp>
        <p:nvSpPr>
          <p:cNvPr id="19" name="Text 17"/>
          <p:cNvSpPr/>
          <p:nvPr/>
        </p:nvSpPr>
        <p:spPr>
          <a:xfrm>
            <a:off x="502920" y="585216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program:  </a:t>
            </a:r>
            <a:pPr indent="0" marL="0">
              <a:buNone/>
            </a:pPr>
            <a:r>
              <a:rPr lang="en-US" sz="19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~4.5–6 months</a:t>
            </a:r>
            <a:pPr indent="0" marL="0">
              <a:buNone/>
            </a:pPr>
            <a:r>
              <a:rPr lang="en-US" sz="135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of focused build after today — with something new shipping almost every week.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Buttons Bebe  ·  AI Support Agent — Phase 2 &amp; 3 Plan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6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858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TODAY'S MEETING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3504" y="10515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need to decide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349240" cy="1417320"/>
          </a:xfrm>
          <a:prstGeom prst="roundRect">
            <a:avLst>
              <a:gd name="adj" fmla="val 7097"/>
            </a:avLst>
          </a:prstGeom>
          <a:solidFill>
            <a:srgbClr val="22344F"/>
          </a:solidFill>
          <a:ln w="12700">
            <a:solidFill>
              <a:srgbClr val="3A4E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286000"/>
            <a:ext cx="548640" cy="548640"/>
          </a:xfrm>
          <a:prstGeom prst="ellipse">
            <a:avLst/>
          </a:prstGeom>
          <a:solidFill>
            <a:srgbClr val="0E8F87"/>
          </a:solidFill>
          <a:ln w="12700">
            <a:solidFill>
              <a:srgbClr val="0E8F8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2768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645920" y="226771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 Phase 2 priorities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45920" y="2761488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7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the order of work — and whether the auto-send pilot is in or out for now.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2011680"/>
            <a:ext cx="5349240" cy="1417320"/>
          </a:xfrm>
          <a:prstGeom prst="roundRect">
            <a:avLst>
              <a:gd name="adj" fmla="val 7097"/>
            </a:avLst>
          </a:prstGeom>
          <a:solidFill>
            <a:srgbClr val="22344F"/>
          </a:solidFill>
          <a:ln w="12700">
            <a:solidFill>
              <a:srgbClr val="3A4E6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37960" y="2286000"/>
            <a:ext cx="548640" cy="548640"/>
          </a:xfrm>
          <a:prstGeom prst="ellipse">
            <a:avLst/>
          </a:prstGeom>
          <a:solidFill>
            <a:srgbClr val="0E8F87"/>
          </a:solidFill>
          <a:ln w="12700">
            <a:solidFill>
              <a:srgbClr val="0E8F8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22768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7269480" y="226771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 the 5 policy questions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269480" y="2761488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7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return, shipping, sale and location details that make the AI accurate.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685032"/>
            <a:ext cx="5349240" cy="1417320"/>
          </a:xfrm>
          <a:prstGeom prst="roundRect">
            <a:avLst>
              <a:gd name="adj" fmla="val 7097"/>
            </a:avLst>
          </a:prstGeom>
          <a:solidFill>
            <a:srgbClr val="22344F"/>
          </a:solidFill>
          <a:ln w="12700">
            <a:solidFill>
              <a:srgbClr val="3A4E6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3959352"/>
            <a:ext cx="548640" cy="548640"/>
          </a:xfrm>
          <a:prstGeom prst="ellipse">
            <a:avLst/>
          </a:prstGeom>
          <a:solidFill>
            <a:srgbClr val="0E8F87"/>
          </a:solidFill>
          <a:ln w="12700">
            <a:solidFill>
              <a:srgbClr val="0E8F8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9502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1645920" y="3941064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Steer Phase 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45920" y="443484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7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us where to lean first: more autonomy, more channels, or taking actions.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63640" y="3685032"/>
            <a:ext cx="5349240" cy="1417320"/>
          </a:xfrm>
          <a:prstGeom prst="roundRect">
            <a:avLst>
              <a:gd name="adj" fmla="val 7097"/>
            </a:avLst>
          </a:prstGeom>
          <a:solidFill>
            <a:srgbClr val="22344F"/>
          </a:solidFill>
          <a:ln w="12700">
            <a:solidFill>
              <a:srgbClr val="3A4E6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37960" y="3959352"/>
            <a:ext cx="548640" cy="548640"/>
          </a:xfrm>
          <a:prstGeom prst="ellipse">
            <a:avLst/>
          </a:prstGeom>
          <a:solidFill>
            <a:srgbClr val="0E8F87"/>
          </a:solidFill>
          <a:ln w="12700">
            <a:solidFill>
              <a:srgbClr val="0E8F8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37960" y="39502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7269480" y="3941064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 up access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269480" y="443484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7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we reach new channels &amp; actions, we'll need the relevant logins.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" y="5440680"/>
            <a:ext cx="11018520" cy="777240"/>
          </a:xfrm>
          <a:prstGeom prst="roundRect">
            <a:avLst>
              <a:gd name="adj" fmla="val 11765"/>
            </a:avLst>
          </a:prstGeom>
          <a:solidFill>
            <a:srgbClr val="8FE3DC"/>
          </a:solidFill>
          <a:ln w="12700">
            <a:solidFill>
              <a:srgbClr val="8FE3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54406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 </a:t>
            </a:r>
            <a:pPr indent="0" marL="0">
              <a:buNone/>
            </a:pPr>
            <a:r>
              <a:rPr lang="en-US" sz="14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Phase 2 scope today and start on the rock-solid foundation this week.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 ·  FOR THE BUILD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detail — Phase 2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each Phase 2 item maps to the actual system (from CLAUDE.md, DEV-ISSUES.md and the sprint notes).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11183112" cy="457200"/>
          </a:xfrm>
          <a:prstGeom prst="roundRect">
            <a:avLst>
              <a:gd name="adj" fmla="val 14000"/>
            </a:avLst>
          </a:prstGeom>
          <a:solidFill>
            <a:srgbClr val="FBFCFE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8288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net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46120" y="1828800"/>
            <a:ext cx="8257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processor/classifier.py (IMMEDIATE/HIGH/NORMAL) — currently a stub returning NORMAL.</a:t>
            </a:r>
            <a:endParaRPr lang="en-US" sz="1130" dirty="0"/>
          </a:p>
        </p:txBody>
      </p:sp>
      <p:sp>
        <p:nvSpPr>
          <p:cNvPr id="8" name="Shape 6"/>
          <p:cNvSpPr/>
          <p:nvPr/>
        </p:nvSpPr>
        <p:spPr>
          <a:xfrm>
            <a:off x="502920" y="2340864"/>
            <a:ext cx="11183112" cy="457200"/>
          </a:xfrm>
          <a:prstGeom prst="roundRect">
            <a:avLst>
              <a:gd name="adj" fmla="val 14000"/>
            </a:avLst>
          </a:prstGeom>
          <a:solidFill>
            <a:srgbClr val="F4F7FB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34086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Cleaner drafts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46120" y="2340864"/>
            <a:ext cx="8257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trailing self-commentary / de-dupe in hermes_runner.py (glm-5.2 verbosity, QA #01/#04/#10).</a:t>
            </a:r>
            <a:endParaRPr lang="en-US" sz="1130" dirty="0"/>
          </a:p>
        </p:txBody>
      </p:sp>
      <p:sp>
        <p:nvSpPr>
          <p:cNvPr id="11" name="Shape 9"/>
          <p:cNvSpPr/>
          <p:nvPr/>
        </p:nvSpPr>
        <p:spPr>
          <a:xfrm>
            <a:off x="502920" y="2852928"/>
            <a:ext cx="11183112" cy="457200"/>
          </a:xfrm>
          <a:prstGeom prst="roundRect">
            <a:avLst>
              <a:gd name="adj" fmla="val 14000"/>
            </a:avLst>
          </a:prstGeom>
          <a:solidFill>
            <a:srgbClr val="FBFCFE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85292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messages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46120" y="2852928"/>
            <a:ext cx="8257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blank / survey messages in the ticket workflow (QA #19).</a:t>
            </a:r>
            <a:endParaRPr lang="en-US" sz="1130" dirty="0"/>
          </a:p>
        </p:txBody>
      </p:sp>
      <p:sp>
        <p:nvSpPr>
          <p:cNvPr id="14" name="Shape 12"/>
          <p:cNvSpPr/>
          <p:nvPr/>
        </p:nvSpPr>
        <p:spPr>
          <a:xfrm>
            <a:off x="502920" y="3364992"/>
            <a:ext cx="11183112" cy="457200"/>
          </a:xfrm>
          <a:prstGeom prst="roundRect">
            <a:avLst>
              <a:gd name="adj" fmla="val 14000"/>
            </a:avLst>
          </a:prstGeom>
          <a:solidFill>
            <a:srgbClr val="F4F7FB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36499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46120" y="3364992"/>
            <a:ext cx="8257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 “no price not in KB” in SOUL/prompt; add real international rate to KB (QA #03).</a:t>
            </a:r>
            <a:endParaRPr lang="en-US" sz="1130" dirty="0"/>
          </a:p>
        </p:txBody>
      </p:sp>
      <p:sp>
        <p:nvSpPr>
          <p:cNvPr id="17" name="Shape 15"/>
          <p:cNvSpPr/>
          <p:nvPr/>
        </p:nvSpPr>
        <p:spPr>
          <a:xfrm>
            <a:off x="502920" y="3877056"/>
            <a:ext cx="11183112" cy="457200"/>
          </a:xfrm>
          <a:prstGeom prst="roundRect">
            <a:avLst>
              <a:gd name="adj" fmla="val 14000"/>
            </a:avLst>
          </a:prstGeom>
          <a:solidFill>
            <a:srgbClr val="FBFCFE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877056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46120" y="3877056"/>
            <a:ext cx="8257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client-credentials token minting to config.py; remove dead SHOPIFY_ADMIN_API_TOKEN (H2, #1).</a:t>
            </a:r>
            <a:endParaRPr lang="en-US" sz="1130" dirty="0"/>
          </a:p>
        </p:txBody>
      </p:sp>
      <p:sp>
        <p:nvSpPr>
          <p:cNvPr id="20" name="Shape 18"/>
          <p:cNvSpPr/>
          <p:nvPr/>
        </p:nvSpPr>
        <p:spPr>
          <a:xfrm>
            <a:off x="502920" y="4389120"/>
            <a:ext cx="11183112" cy="457200"/>
          </a:xfrm>
          <a:prstGeom prst="roundRect">
            <a:avLst>
              <a:gd name="adj" fmla="val 14000"/>
            </a:avLst>
          </a:prstGeom>
          <a:solidFill>
            <a:srgbClr val="F4F7FB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4389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+ toolset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246120" y="4389120"/>
            <a:ext cx="8257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redo_mcp get_order mismatch (#2); restrict --yolo toolset on the Hermes call (#8).</a:t>
            </a:r>
            <a:endParaRPr lang="en-US" sz="1130" dirty="0"/>
          </a:p>
        </p:txBody>
      </p:sp>
      <p:sp>
        <p:nvSpPr>
          <p:cNvPr id="23" name="Shape 21"/>
          <p:cNvSpPr/>
          <p:nvPr/>
        </p:nvSpPr>
        <p:spPr>
          <a:xfrm>
            <a:off x="502920" y="4901184"/>
            <a:ext cx="11183112" cy="457200"/>
          </a:xfrm>
          <a:prstGeom prst="roundRect">
            <a:avLst>
              <a:gd name="adj" fmla="val 14000"/>
            </a:avLst>
          </a:prstGeom>
          <a:solidFill>
            <a:srgbClr val="FBFCFE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490118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/ config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46120" y="4901184"/>
            <a:ext cx="8257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 the two .env files (#9); chmod 600 + rotate keys (#13); harden WhatsApp page (#12).</a:t>
            </a:r>
            <a:endParaRPr lang="en-US" sz="1130" dirty="0"/>
          </a:p>
        </p:txBody>
      </p:sp>
      <p:sp>
        <p:nvSpPr>
          <p:cNvPr id="26" name="Shape 24"/>
          <p:cNvSpPr/>
          <p:nvPr/>
        </p:nvSpPr>
        <p:spPr>
          <a:xfrm>
            <a:off x="502920" y="5413248"/>
            <a:ext cx="11183112" cy="457200"/>
          </a:xfrm>
          <a:prstGeom prst="roundRect">
            <a:avLst>
              <a:gd name="adj" fmla="val 14000"/>
            </a:avLst>
          </a:prstGeom>
          <a:solidFill>
            <a:srgbClr val="F4F7FB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541324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loop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246120" y="5413248"/>
            <a:ext cx="8257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spike + feedback/validate.py on 10+ tickets, then flip STUB→LIVE + add the timer.</a:t>
            </a:r>
            <a:endParaRPr lang="en-US" sz="1130" dirty="0"/>
          </a:p>
        </p:txBody>
      </p:sp>
      <p:sp>
        <p:nvSpPr>
          <p:cNvPr id="29" name="Shape 27"/>
          <p:cNvSpPr/>
          <p:nvPr/>
        </p:nvSpPr>
        <p:spPr>
          <a:xfrm>
            <a:off x="502920" y="5925312"/>
            <a:ext cx="11183112" cy="457200"/>
          </a:xfrm>
          <a:prstGeom prst="roundRect">
            <a:avLst>
              <a:gd name="adj" fmla="val 14000"/>
            </a:avLst>
          </a:prstGeom>
          <a:solidFill>
            <a:srgbClr val="FBFCFE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592531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246120" y="5925312"/>
            <a:ext cx="8257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views over webhook.db + KB/learned/_ledger.json (no analytics code exists yet).</a:t>
            </a:r>
            <a:endParaRPr lang="en-US" sz="1130" dirty="0"/>
          </a:p>
        </p:txBody>
      </p:sp>
      <p:sp>
        <p:nvSpPr>
          <p:cNvPr id="32" name="Text 30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Buttons Bebe  ·  AI Support Agent — Phase 2 &amp; 3 Plan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 ·  FOR THE BUILD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notes &amp; estimate assumptions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F4F7FB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9FB0C6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8288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3 — architecture notes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95528" y="2432304"/>
            <a:ext cx="146304" cy="146304"/>
          </a:xfrm>
          <a:prstGeom prst="ellipse">
            <a:avLst/>
          </a:prstGeom>
          <a:solidFill>
            <a:srgbClr val="4B54C7"/>
          </a:solidFill>
          <a:ln w="12700">
            <a:solidFill>
              <a:srgbClr val="4B54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9848" y="2340864"/>
            <a:ext cx="4663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Auto-send = confidence score + classifier gate + per-intent switch + kill switch + full logging.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95528" y="3182112"/>
            <a:ext cx="146304" cy="146304"/>
          </a:xfrm>
          <a:prstGeom prst="ellipse">
            <a:avLst/>
          </a:prstGeom>
          <a:solidFill>
            <a:srgbClr val="4B54C7"/>
          </a:solidFill>
          <a:ln w="12700">
            <a:solidFill>
              <a:srgbClr val="4B54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9848" y="3090672"/>
            <a:ext cx="4663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channels ride Gorgias' native chat / social / SMS integrations where possible.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95528" y="3931920"/>
            <a:ext cx="146304" cy="146304"/>
          </a:xfrm>
          <a:prstGeom prst="ellipse">
            <a:avLst/>
          </a:prstGeom>
          <a:solidFill>
            <a:srgbClr val="4B54C7"/>
          </a:solidFill>
          <a:ln w="12700">
            <a:solidFill>
              <a:srgbClr val="4B54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69848" y="3840480"/>
            <a:ext cx="4663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(refunds, returns, discounts, order edits) = new gated writes to Shopify &amp; Redo — today the only write is a Gorgias internal note.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5528" y="4681728"/>
            <a:ext cx="146304" cy="146304"/>
          </a:xfrm>
          <a:prstGeom prst="ellipse">
            <a:avLst/>
          </a:prstGeom>
          <a:solidFill>
            <a:srgbClr val="4B54C7"/>
          </a:solidFill>
          <a:ln w="12700">
            <a:solidFill>
              <a:srgbClr val="4B54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9848" y="4590288"/>
            <a:ext cx="4663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builds on the existing multilingual KB embeddings; add per-language routing.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95528" y="5431536"/>
            <a:ext cx="146304" cy="146304"/>
          </a:xfrm>
          <a:prstGeom prst="ellipse">
            <a:avLst/>
          </a:prstGeom>
          <a:solidFill>
            <a:srgbClr val="4B54C7"/>
          </a:solidFill>
          <a:ln w="12700">
            <a:solidFill>
              <a:srgbClr val="4B54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69848" y="5340096"/>
            <a:ext cx="4663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evaluation: test a less verbose / cheaper model than glm-5.2 to cut cost &amp; cleanup.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45352" y="1600200"/>
            <a:ext cx="5440680" cy="4480560"/>
          </a:xfrm>
          <a:prstGeom prst="roundRect">
            <a:avLst>
              <a:gd name="adj" fmla="val 2041"/>
            </a:avLst>
          </a:prstGeom>
          <a:solidFill>
            <a:srgbClr val="E9F0F8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9FB0C6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19672" y="182880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estimates assume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537960" y="2432304"/>
            <a:ext cx="146304" cy="146304"/>
          </a:xfrm>
          <a:prstGeom prst="ellipse">
            <a:avLst/>
          </a:prstGeom>
          <a:solidFill>
            <a:srgbClr val="C8811A"/>
          </a:solidFill>
          <a:ln w="12700">
            <a:solidFill>
              <a:srgbClr val="C881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12280" y="2340864"/>
            <a:ext cx="4617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focused builder (Tony + Claude), working sequentially.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537960" y="3182112"/>
            <a:ext cx="146304" cy="146304"/>
          </a:xfrm>
          <a:prstGeom prst="ellipse">
            <a:avLst/>
          </a:prstGeom>
          <a:solidFill>
            <a:srgbClr val="C8811A"/>
          </a:solidFill>
          <a:ln w="12700">
            <a:solidFill>
              <a:srgbClr val="C881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12280" y="3090672"/>
            <a:ext cx="4617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 are build + test time; ranges absorb testing &amp; surprises.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537960" y="3931920"/>
            <a:ext cx="146304" cy="146304"/>
          </a:xfrm>
          <a:prstGeom prst="ellipse">
            <a:avLst/>
          </a:prstGeom>
          <a:solidFill>
            <a:srgbClr val="C8811A"/>
          </a:solidFill>
          <a:ln w="12700">
            <a:solidFill>
              <a:srgbClr val="C881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3840480"/>
            <a:ext cx="4617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Chaim's 5 policy answers and any channel/action logins arrive promptly.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537960" y="4681728"/>
            <a:ext cx="146304" cy="146304"/>
          </a:xfrm>
          <a:prstGeom prst="ellipse">
            <a:avLst/>
          </a:prstGeom>
          <a:solidFill>
            <a:srgbClr val="C8811A"/>
          </a:solidFill>
          <a:ln w="12700">
            <a:solidFill>
              <a:srgbClr val="C881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12280" y="4590288"/>
            <a:ext cx="4617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stays fixed per item; features can be re-ordered to taste.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537960" y="5431536"/>
            <a:ext cx="146304" cy="146304"/>
          </a:xfrm>
          <a:prstGeom prst="ellipse">
            <a:avLst/>
          </a:prstGeom>
          <a:solidFill>
            <a:srgbClr val="C8811A"/>
          </a:solidFill>
          <a:ln w="12700">
            <a:solidFill>
              <a:srgbClr val="C8811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12280" y="5340096"/>
            <a:ext cx="4617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34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= focused work-days, not calendar days; ~1 week ≈ 5 build-days.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Buttons Bebe  ·  AI Support Agent — Phase 2 &amp; 3 Plan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Buttons Bebe AI Support Agent — Phase 2 &amp; 3 Plan</dc:title>
  <dc:subject>PptxGenJS Presentation</dc:subject>
  <dc:creator>Buttons Bebe</dc:creator>
  <cp:lastModifiedBy>Buttons Bebe</cp:lastModifiedBy>
  <cp:revision>1</cp:revision>
  <dcterms:created xsi:type="dcterms:W3CDTF">2026-07-12T12:45:11Z</dcterms:created>
  <dcterms:modified xsi:type="dcterms:W3CDTF">2026-07-12T12:45:11Z</dcterms:modified>
</cp:coreProperties>
</file>